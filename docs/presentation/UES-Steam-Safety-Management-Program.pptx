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502920"/>
            <a:ext cx="960120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6002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CE7E7"/>
                </a:solidFill>
              </a:defRPr>
            </a:pPr>
            <a:r>
              <a:t>Pressure Safety Valve Compliance · Data · Maintenance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80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Field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26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Excel master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18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Maintenance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Leadership Briefing · Reliability &amp;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End-to-end program built from the ground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719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719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4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719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Program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159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Field → Excel → Dashboard →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1791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1791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26+ Valves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791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Fleet tracked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3231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Boilers, HRSG, hot water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3863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3863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3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Recert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3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NBIC / ASME aligned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5935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5935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1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5935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375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Dashboard + master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10789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Walked boiler rooms and steam systems — photographed nameplates and verified installed valves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Built a comprehensive Excel master register, then a live compliance dashboard for the full fleet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Authored a formal PSV/SRV Maintenance Strategy aligned to ASME, NBIC, API RP 576, and Texas code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Outcome: visible compliance, proactive due-date management, and a defendable maintenance program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Why Leadership Should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Reliability work that protects people, equipment, and compliance 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389120"/>
                <a:gridCol w="475488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Risk area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What was happening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What the program fixes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Regulatory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Missed 3-year recertification creates TDLR / NBIC exposure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Visible overdue tracking and PM schedule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Valve status and spare coverage hard to see across units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Equipment → Location → PSV hierarchy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Financial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Last-minute testing and unplanned outages drive cost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Planned Setpoint outages and spare pooling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Audit / safety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Scattered files and memory-based tracking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Traceable history, exports, and strategy document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Program decisions are code-informed, not ad hoc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429768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Standard / code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How the program uses it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ASME Section I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Safety valve design, capacity, manual-lift rules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Datasheet fields + capacity verification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In-service inspection; max 3-year test interval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Due-date engine + PM schedule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Inspection, testing, repair best practice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Walkdowns, send-out vs in-place guidance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16 TAC Ch. 65 / TX HSC 755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State boiler program requirements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Strategy ties PM to Texas expectations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Building the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Field data → Master register → Dashboard → Maintenance strategy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Site walks</a:t>
            </a:r>
            <a:br/>
            <a:r>
              <a:t>Nameplate photos</a:t>
            </a:r>
            <a:br/>
            <a:r>
              <a:t>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Sort &amp; normalize</a:t>
            </a:r>
            <a:br/>
            <a:r>
              <a:t>Track due dates</a:t>
            </a:r>
            <a:br/>
            <a:r>
              <a:t>Inventory 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Fleet KPIs</a:t>
            </a:r>
            <a:br/>
            <a:r>
              <a:t>Drill-down views</a:t>
            </a:r>
            <a:br/>
            <a:r>
              <a:t>Excel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PM intervals</a:t>
            </a:r>
            <a:br/>
            <a:r>
              <a:t>Spare pooling</a:t>
            </a:r>
            <a:br/>
            <a:r>
              <a:t>Code alignment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1 — Field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Ground truth before any database or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474720"/>
                <a:gridCol w="493776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Data element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How captured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Why it matters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Equipment identity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Site walk + nameplate photo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Links valve to boiler / HRSG / unit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Protected location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Physical position on system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Steam drum, economizer, outlet, etc.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Serial number &amp; NB #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Nameplate photo + field notes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Unique traceability for Setpoint / CMMS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Set pressure &amp; capacity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Nameplate + datasheet review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Correct valve at correct point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Installed vs spare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Visual verification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Determines send-out vs in-place testing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Condition flags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Eyes-on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Weeping, corrosion, isolation concerns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Field Work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On-site activities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Walk every boiler room and steam path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Photograph every nameplate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Confirm installed valve vs drawings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Note discharge path and orientation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Flag missing spares immediately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Deliverables from the 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Photo library per valve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Verified equipment/location list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Gap list (no spare, bad nameplate)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Inputs for Excel master register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Confidence before digitizing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The bridge between field discovery and digital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429768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Register function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What it tracks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Leadership value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Master inventory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Every PSV by equipment, location, serial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fleet picture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Due-date logic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Install date + 3-year recert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No valve left behind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Spare tracking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Installed / inventory / out for service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Swap planning for Setpoint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Inventory IDs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Warehouse + CMMS identifiers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Procurement and tagging alignment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Bulk reporting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5-sheet export structure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Reviews without opening the app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3 — Digital Compliance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Operational visibility for the whole fleet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11480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What you see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Who benefits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Fleet KPIs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Total, Installed, Out for Service, Overdue, Compliant %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Leadership snapshot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KPI drill-down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Click any metric → valve list with Inventory ID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Planners &amp; reliability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Hierarchy views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Equipment → Location → PSV faceplates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Operators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Compliance clock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Auto 3-year due date from install / service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Compliance tracking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Dual history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Status changes separate from repair/overhaul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Audit trail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Excel export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All PSVs, Installed, OOS, Overdue, Upcoming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Reporting &amp; meetings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— Fleet Compliance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804672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823960" y="1042416"/>
            <a:ext cx="274320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6840" y="1179576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00000"/>
                </a:solidFill>
              </a:defRPr>
            </a:pPr>
            <a: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45336"/>
            <a:ext cx="2423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Fleet KPIs at the top — click any card to drill down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Equipment grid mirrors plant layout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Urgency panel shows overdue and due-soon valves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Site-wide compliance posture with equipment cards and upcoming due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KPI Drill-Down — Compliant Valves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-kpi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804672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823960" y="1042416"/>
            <a:ext cx="274320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6840" y="1179576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00000"/>
                </a:solidFill>
              </a:defRPr>
            </a:pPr>
            <a: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45336"/>
            <a:ext cx="2423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Inventory ID column on every filter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Due Soon counts toward Compliant %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Export-ready data for meetings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Every KPI opens a filterable table — serial, Inventory ID, due date, compliance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Equipment &amp; Location 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Scoped views per boiler with Inventory ID on every location 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equi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512064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89320" y="1280160"/>
          <a:ext cx="55778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12687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View level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Shows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26873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Equipment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Scoped KPIs + location list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Boiler #2 → 4 PSVs</a:t>
                      </a:r>
                    </a:p>
                  </a:txBody>
                  <a:tcPr anchor="ctr">
                    <a:noFill/>
                  </a:tcPr>
                </a:tc>
              </a:tr>
              <a:tr h="126873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Installed valve + due date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Steam Drum Relief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26873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Faceplate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Status toggle + quick context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CV-2001 installed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sv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804672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823960" y="1042416"/>
            <a:ext cx="274320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6840" y="1179576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00000"/>
                </a:solidFill>
              </a:defRPr>
            </a:pPr>
            <a: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45336"/>
            <a:ext cx="2423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Inventory ID on header and datasheet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Status History vs Repair split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</a:defRPr>
            </a:pPr>
            <a:r>
              <a:t>▸ One-click Excel export per valve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Full datasheet, compliance clock, status history, and repair/overhaul log in one place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4 — Maintenance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Formal PSV/SRV program document for UES operations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PM Intervals &amp;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Maximum intervals shown — UES should complete before due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560320"/>
                <a:gridCol w="457200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 / reference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Pop test &amp;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Every 3 years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2, ASME Sec. I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Send to Setpoint — complete before due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Visual walkdown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Semi-annual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Weeping, corrosion, discharge path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Manual lever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Annual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PG-73.1.3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Management decision — seat damage risk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Condition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Leakage, chattering, damage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Testing Methods — Send-Out vs. In-Place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Long-term goal: spare coverage for all valves to enable send-out testing fleet-wide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Send-out (preferred)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In-place (no spare)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Process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Remove valve → install spare → bench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Setpoint tests on live system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Inspection depth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Full disassembly, lapping, spring check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Functional lift only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Certification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overhaul +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Equivalent certification issued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Lower seat-damage 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Higher risk on older valves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Fleet-wide spare coverage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Interim until spare acquired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Pre-Test Field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4.1 of Maintenance Strategy — filed in CMMS work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29768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Check item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Pass criteria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Action if fail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Valve body / bonnet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No active corrosion or mechanical damage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Defer test — evaluate repair/replace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Discharge stack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Clear, supported, no standing water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Clear path before testing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Nameplate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Legible — set pressure, serial, orifice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Re-tag or replace nameplate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Seat / lever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No weeping; lifting lever free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Repair before test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Isolation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Valve not inadvertently isolated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Restore to service position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Identification &amp; Labeling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Read the tag left to right — each segment has a fixed meaning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5897880"/>
            <a:ext cx="10972800" cy="50292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Physical tag is two-sided: Position Tag + Inventory ID + Serial Number + Service + 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Section 8 · Maintenance Strategy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Overhaul vs. Repair vs. Replace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42416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2926080"/>
                <a:gridCol w="365760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When to use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Outcome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Scheduled 3-year send-out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VR-stamp shop +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Valve returned certified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Repair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Limited defect found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VR-stamp work + re-test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Targeted fix, lower cost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Replace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Body damage / obsolete / economics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New valve + correct capacity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Long-term reliability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Spare re-test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 storage &gt; 5 years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 guidance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Verify before installation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Commercial 125 psi Boiler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7 of Maintenance Strategy — *illustrative pending actual vendor quotes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3200400"/>
                <a:gridCol w="338328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valves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Unit cost trend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Replace-and-discard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~16+ / year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Recurring purchase every cycle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Simple but highest lifecycle cost</a:t>
                      </a:r>
                    </a:p>
                  </a:txBody>
                  <a:tcPr anchor="ctr">
                    <a:noFill/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Test-and-reuse + spare pool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Same fleet, pooled spares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~40% reduction after pool built*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Mirror high-pressure program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Pilot program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3–5 valves first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Validate quotes &amp; turnaround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Prove before fleet-wide change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Highest-Impact Program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Quick wins and decisions that multiply program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335024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500000"/>
                </a:solidFill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Acquire spares for no-spare locations — unlocks full bench testing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9339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500000"/>
                </a:solidFill>
              </a:defRPr>
            </a:pPr>
            <a: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Rank valves by criticality (pressure, capacity, consequence) for capital prioritization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5176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500000"/>
                </a:solidFill>
              </a:defRPr>
            </a:pPr>
            <a: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Adopt semi-annual visual walkdowns as standard UES practice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1012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500000"/>
                </a:solidFill>
              </a:defRPr>
            </a:pPr>
            <a:r>
              <a:t>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Keep dashboard + Excel register as single source of truth for due dates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968496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500000"/>
                </a:solidFill>
              </a:defRPr>
            </a:pPr>
            <a: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Management decision on routine manual lever testing — risk vs. PG-73.1.3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Outcomes &amp; Value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42416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457200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Deliverable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valve inventory across steam systems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Nothing missed in the field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Visible compliance by equipment and site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Leadership-ready status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Traceable status + repair history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Audit and incident support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Strategic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Code-aligned maintenance strategy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Defendable PM program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Strategic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Dashboard + Excel reporting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Capital requests backed by data</a:t>
                      </a:r>
                    </a:p>
                  </a:txBody>
                  <a:tcPr anchor="ctr"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Strategic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Spare-pool foundation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Lower long-term testing cost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Concrete actions to move from program build to program sustainment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029200"/>
                <a:gridCol w="2743200"/>
                <a:gridCol w="274320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Decision owner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Endorse Maintenance Strategy and PM frequencies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Leadership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This quarter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Decide manual lever testing policy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Operations / Safety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Policy memo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Approve spare-acquisition priority list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Leadership / Capital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FY planning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Pilot test-and-reuse on 125 psi valves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Reliability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3–5 valve pilot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Fleet-wide physical tagging (Position Tag + Inventory ID)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Operations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Rolling install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Steam Safety Management Program · Texas A&amp;M UES · Reliability &amp; Compliance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