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6858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Steam Safety Management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CE7E7"/>
                </a:solidFill>
              </a:defRPr>
            </a:pPr>
            <a:r>
              <a:t>Pressure Safety Valve (PSV) Compliance · Data · Maintenance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8C4C4"/>
                </a:solidFill>
              </a:defRPr>
            </a:pPr>
            <a:r>
              <a:t>Texas A&amp;M University · Utilities &amp; Energy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4A3B8"/>
                </a:solidFill>
              </a:defRPr>
            </a:pPr>
            <a:r>
              <a:t>Leadership Briefing · Reliability &amp;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Built an end-to-end Steam Safety Management Program for UES boiler and steam systems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Started with field verification — walking units, photographing nameplates, confirming installed valves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Organized findings into a master Excel register, then a live compliance dashboard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Authored a formal PSV/SRV Maintenance Strategy aligned to ASME, NBIC, API RP 576, and Texas code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Outcome: one reliable system of record, proactive due-date management, and a defendable maintenance program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Why Leadership Should Care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Boiler PSVs are code-required safety devices — missed recertification creates regulatory and operational risk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Before this work, valve status, spare coverage, and due dates were difficult to see across the fleet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Unplanned failures and last-minute testing drive cost, outages, and audit exposure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A structured program reduces surprises, supports TDLR/NBIC expectations, and improves capital planning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This is reliability work that protects people, equipment, and compliance standing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Regulatory &amp; Standards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Program decisions are code-informed, not ad hoc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ASME Section I — boiler safety valve design, capacity, and manual-lift requirements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NBIC Part 2 — in-service inspection and maximum 3-year test intervals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API RP 576 — industry best practice for inspection, testing, and repair of relief devices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16 TAC Chapter 65 &amp; Texas Health &amp; Safety Code Ch. 755 — state boiler program requirements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Maintenance Strategy document ties every PM activity back to these references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Building the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CE7E7"/>
                </a:solidFill>
              </a:defRPr>
            </a:pPr>
            <a:r>
              <a:t>Field data → Master register → Dashboard → Maintenance strategy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Program Development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From field discovery to a sustainable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2697480" cy="43891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24231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Field Data</a:t>
            </a:r>
            <a:br/>
            <a:r>
              <a:t>Collection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Site walks, nameplate</a:t>
            </a:r>
            <a:br/>
            <a:r>
              <a:t>photos, valve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2004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417320"/>
            <a:ext cx="2697480" cy="43891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600200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57400"/>
            <a:ext cx="24231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Master Excel</a:t>
            </a:r>
            <a:br/>
            <a: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15468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Comprehensive master file</a:t>
            </a:r>
            <a:br/>
            <a:r>
              <a:t>for sorting &amp;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2004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417320"/>
            <a:ext cx="2697480" cy="43891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600200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057400"/>
            <a:ext cx="24231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Digital</a:t>
            </a:r>
            <a:br/>
            <a:r>
              <a:t>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5468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Live compliance tracking</a:t>
            </a:r>
            <a:br/>
            <a:r>
              <a:t>&amp; operational visibility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2004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55480" y="1417320"/>
            <a:ext cx="2697480" cy="43891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1600200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057400"/>
            <a:ext cx="24231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Maintenance</a:t>
            </a:r>
            <a:br/>
            <a:r>
              <a:t>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15468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Code-based PM program</a:t>
            </a:r>
            <a:br/>
            <a:r>
              <a:t>&amp; spare-pool planning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Phase 1 — Field 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Ground truth before any database or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Walked boiler rooms and steam systems to locate every relief valve and protected point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Captured nameplate photos: serial number, set pressure (CDTP), orifice, manufacturer, NB number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Verified what was actually installed vs. what drawings or records showed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Documented whether a spare existed, valve orientation, discharge path, and visible condition issues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Flagged gaps: missing spares, illegible nameplates, weeping seats, isolation concerns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What We Captured in the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Equipment &amp; location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Boiler / HRSG / commercial unit identity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Protected location (steam drum, economizer, etc.)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Position on the system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Installed vs. spare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2344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Valve identity &amp;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Serial number &amp; manufacturer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Set pressure and capacity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National Board number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Nameplate photo evidence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Visible leakage, corrosion, or damage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Phase 2 — Master Excel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The bridge between field discovery and digital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Built a comprehensive Excel master file as the first system of record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Sorted and normalized field data across equipment, locations, and serial numbers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Tracked install dates, service history, spare availability, and recert due dates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Assigned Inventory IDs and position-oriented tags for procurement and CMMS use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Used Excel to validate completeness before investing in a digital platform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Master file still supports bulk reporting and leadership reviews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Phase 3 — Digital Compliance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CE7E7"/>
                </a:solidFill>
              </a:defRPr>
            </a:pPr>
            <a:r>
              <a:t>Operational visibility for the whole fleet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Dashboard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reliability-and-compliance-dashboar.vercel.app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Site-wide KPIs: Total PSVs, Installed, Out for Service, Overdue, Compliant %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Equipment → Location → PSV hierarchy matching how operators think about the plant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Automatic 3-year due-date calculation from install or on-site service history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Inventory ID visible on locations, KPI views, and exports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Status history and separate repair/overhaul history per valve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Excel report download: All PSVs, Installed, Out for Service, Overdue, Upcoming Due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Dashboard — Fleet Compliance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Leadership and operators can immediately see compliance posture and drill into equipment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KPI Drill-Down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-kpi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Click any KPI to see the exact valves driving that metric — serial, inventory ID, due date, status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Equipment &amp; Location 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-equip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Scoped view per boiler with location-level inventory ID and installed valve due dates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Valve Record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psv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Full datasheet, compliance clock, status history, and repair/overhaul log in one place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Phase 4 — Maintenance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CE7E7"/>
                </a:solidFill>
              </a:defRPr>
            </a:pPr>
            <a:r>
              <a:t>Formal PSV/SRV program document for UES operations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PM Intervals &amp;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Maximum intervals shown — UES should complete before due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Formal pop test &amp; overhaul (Setpoint): every 3 years — code minimum (NBIC Part 2, ASME Sec. I, 16 TAC Ch. 65)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Visual field walkdown: semi-annually — eyes-on check for weeping, corrosion, discharge issues (API RP 576)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Manual lever test: annual only if management approves — PG-73.1.3 allows but seat-damage risk exists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Condition-based inspection: immediately on leakage, chattering, actuation, or visible damage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Strategy distinguishes planned PM from emergency response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Testing Methods — Send-Out vs. In-Place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Long-term goal: spare coverage for all valves to enable send-out testing fleet-wide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Send-out (preferred when spare exists)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Valve removed; spare installed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Full bench overhaul at Setpoint shop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Internal inspection, lapping, spring check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Complete condition assessment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Lower seat-damage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2344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In-place (when no spare exists)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Setpoint tests on live system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Equivalent certification issued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Functional lift test only — no disassembly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Higher seat-damage risk on older valves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Interim measure until spare acquired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Pre-Test Field Checklist (Highlights)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Section 4.1 of Maintenance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Valve body/bonnet — no active corrosion or mechanical damage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Discharge stack — clear, supported, no standing water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Nameplate legible — record set pressure, serial, orifice, manufacture year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No seat weeping at inlet; lifting lever free if equipped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Confirm valve not inadvertently isolated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Checklist completed before every removal or in-place test — filed in CMMS work order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Valve Identification &amp; Labeling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Section 8 of Maintenance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Position Tag (fixed point): EQUIPMENT – LOCATION – SERVICE – VALVE TYPE – SEQUENCE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Example: B012-SD-STM-SV-001B (Boiler B012, Steam Drum, Steam service, Safety Valve, point 001B)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Inventory ID — warehouse/stock identifier used on physical tags and in dashboard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Physical two-sided tag on valve body: Position Tag, service, inventory ID, location, serial number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Links field equipment to CMMS, Setpoint paperwork, dashboard, and spare pool tracking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Overhaul vs. Repair vs. Replace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Overhaul: full disassembly, seat lapping, spring inspection, certified pop test — bundled with 3-year send-out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Repair: limited-scope fix (e.g., seat lapping, spring) — must be VR-stamp work with re-test before return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Replace when: body damage, obsolete design, economics favor new valve, or high-criticality risk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Spares in storage &gt;5 years: re-test before installation per API RP 576 guidance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Decision criteria documented so procurement and operations align on the same rules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Commercial 125 psi Boiler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Section 7 of Maintenance Strategy — management decision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Current practice: replace-and-discard (~16+ valves/year) — simple but recurring cost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Alternative: test-and-reuse with a shared spare pool — mirrors high-pressure boiler program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Illustrative savings: ~40% unit-cost reduction after pool is built (pending actual quotes)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Staggered 3-year rotation groups spread workload and cost evenly across years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Variability pooling: shared spare inventory covers more locations than one spare per site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Recommendation: pilot on 3–5 valves, validate costs and turnaround before fleet-wide change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Highest-Impact Program Improvements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Acquire spares for valves currently without a designated spare — enables full bench testing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Rank valves by criticality (pressure, capacity, consequence of failure) to prioritize capital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Adopt semi-annual visual walkdowns as standard UES practice between formal tests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Keep dashboard and master register as the single source of truth for due dates and status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Management decision needed on routine manual lever testing — risk vs. PG-73.1.3 compliance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Program Outcomes &amp; Value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Operational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Complete valve inventory across steam systems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Visible compliance status by equipment and site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Traceable history for audits and incidents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Faster planning for Setpoint outages and swaps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Reduced reliance on memory and scattered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2344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Strategic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Code-aligned maintenance strategy document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Foundation for CMMS integration and spare pooling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Data to support capital requests for spares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Leadership-ready reporting via dashboard &amp; Excel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Sustainable program ownership within UES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0000"/>
                </a:solidFill>
              </a:defRPr>
            </a:pPr>
            <a:r>
              <a:t>Recommended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743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Leadership endorsement of the Maintenance Strategy and PM frequencies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Decision on manual lever testing policy (Section 3 — management choice)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Approve spare-acquisition prioritization for no-spare locations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Pilot test-and-reuse for commercial 125 psi valves (Section 7.5)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Continue populating dashboard with remaining field discoveries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</a:defRPr>
            </a:pPr>
            <a:r>
              <a:t>Integrate Position Tags and Inventory IDs fleet-wide on physical valve tags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CE7E7"/>
                </a:solidFill>
              </a:defRPr>
            </a:pPr>
            <a:r>
              <a:t>Steam Safety Management Program · Texas A&amp;M UES · Reliability &amp; Compliance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