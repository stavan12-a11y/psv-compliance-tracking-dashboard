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502920"/>
            <a:ext cx="960120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60020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Steam Safety Management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CE7E7"/>
                </a:solidFill>
              </a:defRPr>
            </a:pPr>
            <a:r>
              <a:t>Pressure Safety Valve Compliance · Data · Maintenance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E8C4C4"/>
                </a:solidFill>
              </a:defRPr>
            </a:pPr>
            <a:r>
              <a:t>Texas A&amp;M University · Utilities &amp; Energy 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58087" y="4709160"/>
            <a:ext cx="2331720" cy="438912"/>
          </a:xfrm>
          <a:prstGeom prst="rect">
            <a:avLst/>
          </a:prstGeom>
          <a:solidFill>
            <a:srgbClr val="6B1A1A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Field verified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2687" y="4709160"/>
            <a:ext cx="2331720" cy="438912"/>
          </a:xfrm>
          <a:prstGeom prst="rect">
            <a:avLst/>
          </a:prstGeom>
          <a:solidFill>
            <a:srgbClr val="6B1A1A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Excel master 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7287" y="4709160"/>
            <a:ext cx="2331720" cy="438912"/>
          </a:xfrm>
          <a:prstGeom prst="rect">
            <a:avLst/>
          </a:prstGeom>
          <a:solidFill>
            <a:srgbClr val="6B1A1A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Live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01887" y="4709160"/>
            <a:ext cx="2331720" cy="438912"/>
          </a:xfrm>
          <a:prstGeom prst="rect">
            <a:avLst/>
          </a:prstGeom>
          <a:solidFill>
            <a:srgbClr val="6B1A1A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Maintenance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End-to-end program built from the ground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9719" y="1325880"/>
            <a:ext cx="2606040" cy="123444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9719" y="1490472"/>
            <a:ext cx="2606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500000"/>
                </a:solidFill>
              </a:defRPr>
            </a:pPr>
            <a:r>
              <a:t>4 Phases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9719" y="1984248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Program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159" y="224028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Field → Excel → Dashboard → 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1791" y="1325880"/>
            <a:ext cx="2606040" cy="123444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1791" y="1490472"/>
            <a:ext cx="2606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500000"/>
                </a:solidFill>
              </a:defRPr>
            </a:pPr>
            <a:r>
              <a:t>51+ PSVs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1791" y="1984248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Tracked fleet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3231" y="224028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Boilers, HRSG, HHWB, DHWB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3863" y="1325880"/>
            <a:ext cx="2606040" cy="123444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3863" y="1490472"/>
            <a:ext cx="2606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500000"/>
                </a:solidFill>
              </a:defRPr>
            </a:pPr>
            <a:r>
              <a:t>3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863" y="1984248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Recert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5303" y="224028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NBIC / ASME aligned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85935" y="1325880"/>
            <a:ext cx="2606040" cy="123444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5935" y="1490472"/>
            <a:ext cx="2606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500000"/>
                </a:solidFill>
              </a:defRPr>
            </a:pPr>
            <a:r>
              <a:t>1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5935" y="1984248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System of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7375" y="224028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Dashboard + master Excel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78892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E293B"/>
                </a:solidFill>
              </a:defRPr>
            </a:pPr>
            <a:r>
              <a:t>✓  Walked boiler rooms and steam systems — photographed nameplates and verified installed valves</a:t>
            </a:r>
          </a:p>
          <a:p>
            <a:pPr>
              <a:spcAft>
                <a:spcPts val="1200"/>
              </a:spcAft>
              <a:defRPr sz="1600" b="0">
                <a:solidFill>
                  <a:srgbClr val="1E293B"/>
                </a:solidFill>
              </a:defRPr>
            </a:pPr>
            <a:r>
              <a:t>✓  Built a comprehensive Excel master register, then a live compliance dashboard for the full fleet</a:t>
            </a:r>
          </a:p>
          <a:p>
            <a:pPr>
              <a:spcAft>
                <a:spcPts val="1200"/>
              </a:spcAft>
              <a:defRPr sz="1600" b="0">
                <a:solidFill>
                  <a:srgbClr val="1E293B"/>
                </a:solidFill>
              </a:defRPr>
            </a:pPr>
            <a:r>
              <a:t>✓  Authored a formal PSV/SRV Maintenance Strategy aligned to ASME, NBIC, API RP 576, and Texas code</a:t>
            </a:r>
          </a:p>
          <a:p>
            <a:pPr>
              <a:spcAft>
                <a:spcPts val="1200"/>
              </a:spcAft>
              <a:defRPr sz="1600" b="0">
                <a:solidFill>
                  <a:srgbClr val="1E293B"/>
                </a:solidFill>
              </a:defRPr>
            </a:pPr>
            <a:r>
              <a:t>✓  Outcome: visible compliance, proactive due-date management, and a defendable maintenance program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Why Leadership Should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Risk reduction through visibility and a sustainable maintenance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1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93B"/>
                </a:solidFill>
              </a:defRPr>
            </a:pPr>
            <a:r>
              <a:t>Boiler PSVs are code-required — missed recertification creates regulatory 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7744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93B"/>
                </a:solidFill>
              </a:defRPr>
            </a:pPr>
            <a:r>
              <a:t>Valve status, spare coverage, and due dates were hard to see fleet-wide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24612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5467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93B"/>
                </a:solidFill>
              </a:defRPr>
            </a:pPr>
            <a:r>
              <a:t>Unplanned failures and rushed testing drive cost, outages, and audit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114799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5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93B"/>
                </a:solidFill>
              </a:defRPr>
            </a:pPr>
            <a:r>
              <a:t>A structured program cuts surprises and improves capital planning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983479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92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93B"/>
                </a:solidFill>
              </a:defRPr>
            </a:pPr>
            <a:r>
              <a:t>This reliability work protects people, equipment, and compliance standing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Regulatory &amp; Standards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Program decisions are code-informed, not ad hoc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1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ASME Section I — boiler safety valve design, capacity, and manual-lift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7744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NBIC Part 2 — in-service inspection and maximum 3-year test intervals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24612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5467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API RP 576 — industry best practice for inspection, testing, and repair of relief devices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114799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5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16 TAC Chapter 65 &amp; Texas Health &amp; Safety Code Ch. 755 — state boiler program requirements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983479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92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Maintenance Strategy document ties every PM activity back to these 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7315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Building the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CE7E7"/>
                </a:solidFill>
              </a:defRPr>
            </a:pPr>
            <a:r>
              <a:t>Field data → Master register → Dashboard → Maintenance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Program Development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From field discovery to a sustainable maintenance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19"/>
            <a:ext cx="2697480" cy="452628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502920" cy="50292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423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Field Data</a:t>
            </a:r>
            <a:br/>
            <a:r>
              <a:t>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24231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Site walks</a:t>
            </a:r>
            <a:br/>
            <a:r>
              <a:t>Nameplate photos</a:t>
            </a:r>
            <a:br/>
            <a:r>
              <a:t>Valve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4290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B83A3A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417319"/>
            <a:ext cx="2697480" cy="452628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03320" y="1600200"/>
            <a:ext cx="502920" cy="50292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40280"/>
            <a:ext cx="2423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Master Excel</a:t>
            </a:r>
            <a:br/>
            <a:r>
              <a:t>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91840"/>
            <a:ext cx="24231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Sort &amp; normalize</a:t>
            </a:r>
            <a:br/>
            <a:r>
              <a:t>Track due dates</a:t>
            </a:r>
            <a:br/>
            <a:r>
              <a:t>Inventory IDs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4290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B83A3A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417319"/>
            <a:ext cx="2697480" cy="452628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20840" y="1600200"/>
            <a:ext cx="502920" cy="50292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240280"/>
            <a:ext cx="2423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Digital</a:t>
            </a:r>
            <a:br/>
            <a: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291840"/>
            <a:ext cx="24231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Fleet KPIs</a:t>
            </a:r>
            <a:br/>
            <a:r>
              <a:t>Drill-down views</a:t>
            </a:r>
            <a:br/>
            <a:r>
              <a:t>Excel exports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4290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B83A3A"/>
                </a:solidFill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1417319"/>
            <a:ext cx="2697480" cy="452628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38360" y="1600200"/>
            <a:ext cx="502920" cy="50292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240280"/>
            <a:ext cx="2423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Maintenance</a:t>
            </a:r>
            <a:br/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291840"/>
            <a:ext cx="24231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PM intervals</a:t>
            </a:r>
            <a:br/>
            <a:r>
              <a:t>Spare pooling</a:t>
            </a:r>
            <a:br/>
            <a:r>
              <a:t>Code alignment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Phase 1 — Field 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Ground truth before any database or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1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Walked every boiler room to locate all relief valves and protected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7744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Captured nameplate photos: serial, set pressure (CDTP), orifice, NB number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24612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5467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Verified what was actually installed vs. what drawings or records showed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114799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5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Documented spare availability, valve orientation, discharge path, and visible condition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983479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92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Flagged gaps: missing spares, illegible nameplates, weeping seats, isolation concerns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What We Captured in the Field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042416"/>
            <a:ext cx="5440680" cy="507492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79576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00000"/>
                </a:solidFill>
              </a:defRPr>
            </a:pPr>
            <a:r>
              <a:t>Equipment &amp; location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45336"/>
            <a:ext cx="4983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Boiler / HRSG / commercial unit identity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Protected location (steam drum, economizer, etc.)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Position on the system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Installed vs. spare 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42416"/>
            <a:ext cx="5440680" cy="5074920"/>
          </a:xfrm>
          <a:prstGeom prst="rect">
            <a:avLst/>
          </a:prstGeom>
          <a:solidFill>
            <a:srgbClr val="E0F2FE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179576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00000"/>
                </a:solidFill>
              </a:defRPr>
            </a:pPr>
            <a:r>
              <a:t>Valve identity &amp; 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45336"/>
            <a:ext cx="4983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Serial number &amp; manufacturer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Set pressure and capacity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National Board number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Nameplate photo evidence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Visible leakage, corrosion, or damage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Phase 2 — Master Excel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The bridge between field discovery and digital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1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t>Built a comprehensive Excel master file as the first system of 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7744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t>Sorted and normalized field data across equipment, locations, and serial numbers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24612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5467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t>Tracked install dates, service history, spare availability, and recert due 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114799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5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t>Assigned Inventory IDs and position-oriented tags for procurement and CMMS 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983479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92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t>Used Excel to validate completeness before investing in a digital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852159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t>Master file still supports bulk reporting and leadership 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7315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Phase 3 — Digital Compliance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CE7E7"/>
                </a:solidFill>
              </a:defRPr>
            </a:pPr>
            <a:r>
              <a:t>Operational visibility for the whole fleet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Dashboard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reliability-and-compliance-dashboar.vercel.app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1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t>Site-wide KPIs: Total PSVs, Installed, Out for Service, Overdue, Compliant %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7744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t>Equipment → Location → PSV hierarchy matching how operators think about the plant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24612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5467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t>Automatic 3-year due-date calculation from install or on-site service history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114799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5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t>Inventory ID visible on locations, KPI views, and exports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983479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92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t>Status history and separate repair/overhaul history per valve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852159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t>Excel report download: All PSVs, Installed, Out for Service, Overdue, Upcoming Due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00000"/>
                </a:solidFill>
              </a:defRPr>
            </a:pPr>
            <a:r>
              <a:t>Dashboard — Fleet Compliance at a Glance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02920"/>
            <a:ext cx="11795760" cy="73723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6355080"/>
            <a:ext cx="1179576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Live production — 51+ PSVs tracked, fleet-wide equipment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00000"/>
                </a:solidFill>
              </a:defRPr>
            </a:pPr>
            <a:r>
              <a:t>KPI Drill-Down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02920"/>
            <a:ext cx="11795760" cy="73723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6355080"/>
            <a:ext cx="1179576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Click any KPI to see the exact valves driving that 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00000"/>
                </a:solidFill>
              </a:defRPr>
            </a:pPr>
            <a:r>
              <a:t>Equipment &amp; Location Views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02920"/>
            <a:ext cx="11795760" cy="73723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6355080"/>
            <a:ext cx="1179576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Scoped view per boiler with location-level Inventory ID and installed valve due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00000"/>
                </a:solidFill>
              </a:defRPr>
            </a:pPr>
            <a:r>
              <a:t>Valve Record Detail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02920"/>
            <a:ext cx="11795760" cy="73723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6355080"/>
            <a:ext cx="1179576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Full datasheet, compliance clock, status history, and repair/overhaul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7315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Phase 4 — Maintenance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CE7E7"/>
                </a:solidFill>
              </a:defRPr>
            </a:pPr>
            <a:r>
              <a:t>Formal PSV/SRV program document for UES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PM Intervals &amp; Triggers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Maximum intervals shown — UES should complete before due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8016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2926080"/>
                <a:gridCol w="4297680"/>
              </a:tblGrid>
              <a:tr h="10241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Code / reference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Formal pop test &amp; overhaul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Every 3 years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NBIC Part 2 §2.5.8; ASME Sec. I; 16 TAC Ch. 65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Code minimum — Setpoint send-out or in-place</a:t>
                      </a:r>
                    </a:p>
                  </a:txBody>
                  <a:tcPr anchor="ctr">
                    <a:noFill/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Visual field walkdown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Semi-annual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API RP 576 §8 &amp; §9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Eyes-on only — recommended UES program addition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Manual lever test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Annual (optional)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ASME Sec. I PG-73.1.3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Management decision — see Section 3</a:t>
                      </a:r>
                    </a:p>
                  </a:txBody>
                  <a:tcPr anchor="ctr">
                    <a:noFill/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Condition-based inspection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Immediately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API RP 576 §9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Leakage, chattering, corrosion, unplanned actuation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Testing Methods — Send-Out vs. In-Place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Long-term goal: spare coverage for all valves to enable send-out testing fleet-wide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8016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57200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Factor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Send-out (Setpoint shop)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In-place (Setpoint on-site)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Who performs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Setpoint certified shop technicians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Same Setpoint technicians, on-site</a:t>
                      </a:r>
                    </a:p>
                  </a:txBody>
                  <a:tcPr anchor="ctr"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Certification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Full Setpoint test certificate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Full certificate — equivalent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Scope of work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Bench overhaul: disassembly, lapping, pop test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As-found lift; reseat &amp; seat tightness check</a:t>
                      </a:r>
                    </a:p>
                  </a:txBody>
                  <a:tcPr anchor="ctr"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Internal assessment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Complete — worn parts replaced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Limited — functional test only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Seat damage risk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Lower — controlled bench environment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Higher — especially older or corroded valves</a:t>
                      </a:r>
                    </a:p>
                  </a:txBody>
                  <a:tcPr anchor="ctr"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Best suited for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Preferred when spare is available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Interim until spare is acquired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Pre-Test Visual Inspection — Field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Section 4.1 · Complete before every removal or in-place test · File in CMMS work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25880"/>
          <a:ext cx="108356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400800"/>
                <a:gridCol w="685800"/>
                <a:gridCol w="685800"/>
                <a:gridCol w="685800"/>
              </a:tblGrid>
              <a:tr h="543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Checkpoint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Accept / Reject criteria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Fail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Valve body and bonnet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No active corrosion; minor surface rust OK if no pitting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noFill/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Discharge pipe / stack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Clear and unobstructed; properly supported; no standing water; drip pocket if applicable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Drain / weep hole (if equipped)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Open; no plugging or paint blockage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noFill/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Body and bonnet bolting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All fasteners present and intact; no visible cracks or corrosion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Nameplate legibility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CDTP, serial, orifice, and manufacture year legible — record in work order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noFill/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Inlet / nozzle area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No visible leakage or weeping at seat; dry mating surfaces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Test gag / lifting lever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Free of obstructions; lever not locked or wired shut (if equipped)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noFill/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Inlet isolation (if applicable)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Valve in-line and not inadvertently isolated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4360" y="6053328"/>
            <a:ext cx="10972800" cy="384048"/>
          </a:xfrm>
          <a:prstGeom prst="rect">
            <a:avLst/>
          </a:prstGeom>
          <a:solidFill>
            <a:srgbClr val="FFFBEB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Technician: _______________   Date: __________   WO #: __________   Equipment / Location: 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Valve Identification &amp; Labeling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Section 8 · Read the tag left to right — each segment has a fixed meaning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ag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4251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5897880"/>
            <a:ext cx="10972800" cy="502920"/>
          </a:xfrm>
          <a:prstGeom prst="rect">
            <a:avLst/>
          </a:prstGeom>
          <a:solidFill>
            <a:srgbClr val="FFFBEB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Physical tag is two-sided: Position Tag + Inventory ID + Serial Number + Service + 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Manual Lever Testing — Management Decision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Section 3 — both testing methods performed by Setpoint; certification equivalent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80160"/>
            <a:ext cx="5440680" cy="5074920"/>
          </a:xfrm>
          <a:prstGeom prst="rect">
            <a:avLst/>
          </a:prstGeom>
          <a:solidFill>
            <a:srgbClr val="ECFDF5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1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0000"/>
                </a:solidFill>
              </a:defRPr>
            </a:pPr>
            <a:r>
              <a:t>Arguments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983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t>• PG-73.1.3 requires capability to manually lift at ≥75% of set pressure on Section I boilers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t>• Low-cost field check that disc is not stuck to seat from corrosion or scale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t>• Brief test at operating pressure confirms disc and seat are functional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5440680" cy="5074920"/>
          </a:xfrm>
          <a:prstGeom prst="rect">
            <a:avLst/>
          </a:prstGeom>
          <a:solidFill>
            <a:srgbClr val="FFFBEB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1731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0000"/>
                </a:solidFill>
              </a:defRPr>
            </a:pPr>
            <a:r>
              <a:t>Arguments against /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983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t>• Can damage seating surfaces — especially older valves or soft seats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t>• Post-test seat leakage may require immediate removal and bench overhaul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t>• API RP 576 does not recommend routine lever tests as substitute for formal pop testing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t>• Low incremental benefit if formal test is already scheduled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Overhaul vs. Repair vs. Replace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Decision guide for Setpoint and procurement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1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Overhaul: full disassembly, lapping, and certified pop test — bundled with send-out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7744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Repair: limited-scope fix — must be VR-stamp work with re-test before return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24612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5467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Replace when: body damage, obsolete design, or high-criticality risk favors new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114799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5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Spares in storage &gt;5 years: re-test before installation per API RP 576 guidance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983479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92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Decision criteria documented so procurement and operations align on the same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Commercial Boiler Safety Valves (150 PSI)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Cost-driven maintenance logic — test-and-reuse is not worth pursuing for this valve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1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t>Section 6 — ASME Section IV heating-boiler devices; different class from Section I steam PRVs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7744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t>F275464 (~$351/valve) replaces discontinued 0275464 — use ~$350–360 for planning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24612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5467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t>Use-and-trash is correct: repair cost exceeds ~60% of replacement at this price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114799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5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t>Annual lever test required per Watts ES-174A/740 — replace immediately on failed reseat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983479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92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t>Recommend 3–5 year replacement cycle; align with fleet 3-year PSV cadence (Section 6.4)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3-Year Replacement Cycle by 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Stagger replacements across sites so capital costs are predictable — not concentrated in one year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Without a rotation plan, valves installed together age out together — creating a single-year budget spike.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Assign each building or boiler location to a Year 1, 2, or 3 bucket so replacement and recert spend is level-loaded.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377439"/>
            <a:ext cx="3520440" cy="324612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514599"/>
            <a:ext cx="3246120" cy="384048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Year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799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00000"/>
                </a:solidFill>
              </a:defRPr>
            </a:pPr>
            <a:r>
              <a:t>Rotation group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59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E293B"/>
                </a:solidFill>
              </a:defRPr>
            </a:pPr>
            <a:r>
              <a:t>• Assign ~⅓ of locations (by valve count)</a:t>
            </a:r>
          </a:p>
          <a:p>
            <a:pPr>
              <a:spcAft>
                <a:spcPts val="500"/>
              </a:spcAft>
              <a:defRPr sz="1100" b="0">
                <a:solidFill>
                  <a:srgbClr val="1E293B"/>
                </a:solidFill>
              </a:defRPr>
            </a:pPr>
            <a:r>
              <a:t>• Commercial 150 psi replacements due this cycle</a:t>
            </a:r>
          </a:p>
          <a:p>
            <a:pPr>
              <a:spcAft>
                <a:spcPts val="500"/>
              </a:spcAft>
              <a:defRPr sz="1100" b="0">
                <a:solidFill>
                  <a:srgbClr val="1E293B"/>
                </a:solidFill>
              </a:defRPr>
            </a:pPr>
            <a:r>
              <a:t>• Setpoint send-outs aligned to spare swaps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377439"/>
            <a:ext cx="3520440" cy="3246120"/>
          </a:xfrm>
          <a:prstGeom prst="rect">
            <a:avLst/>
          </a:prstGeom>
          <a:solidFill>
            <a:srgbClr val="E0F2FE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2514599"/>
            <a:ext cx="3246120" cy="384048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Year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971799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00000"/>
                </a:solidFill>
              </a:defRPr>
            </a:pPr>
            <a:r>
              <a:t>Rotation group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337559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E293B"/>
                </a:solidFill>
              </a:defRPr>
            </a:pPr>
            <a:r>
              <a:t>• Next third of campus / plant locations</a:t>
            </a:r>
          </a:p>
          <a:p>
            <a:pPr>
              <a:spcAft>
                <a:spcPts val="500"/>
              </a:spcAft>
              <a:defRPr sz="1100" b="0">
                <a:solidFill>
                  <a:srgbClr val="1E293B"/>
                </a:solidFill>
              </a:defRPr>
            </a:pPr>
            <a:r>
              <a:t>• Balance workload with Year 1 completions</a:t>
            </a:r>
          </a:p>
          <a:p>
            <a:pPr>
              <a:spcAft>
                <a:spcPts val="500"/>
              </a:spcAft>
              <a:defRPr sz="1100" b="0">
                <a:solidFill>
                  <a:srgbClr val="1E293B"/>
                </a:solidFill>
              </a:defRPr>
            </a:pPr>
            <a:r>
              <a:t>• Update dashboard due dates after each swap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2377439"/>
            <a:ext cx="3520440" cy="3246120"/>
          </a:xfrm>
          <a:prstGeom prst="rect">
            <a:avLst/>
          </a:prstGeom>
          <a:solidFill>
            <a:srgbClr val="ECFDF5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514599"/>
            <a:ext cx="3246120" cy="384048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Year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971799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00000"/>
                </a:solidFill>
              </a:defRPr>
            </a:pPr>
            <a:r>
              <a:t>Rotation group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337559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E293B"/>
                </a:solidFill>
              </a:defRPr>
            </a:pPr>
            <a:r>
              <a:t>• Remaining locations complete the cycle</a:t>
            </a:r>
          </a:p>
          <a:p>
            <a:pPr>
              <a:spcAft>
                <a:spcPts val="500"/>
              </a:spcAft>
              <a:defRPr sz="1100" b="0">
                <a:solidFill>
                  <a:srgbClr val="1E293B"/>
                </a:solidFill>
              </a:defRPr>
            </a:pPr>
            <a:r>
              <a:t>• Cycle restarts — locations return to Year 1</a:t>
            </a:r>
          </a:p>
          <a:p>
            <a:pPr>
              <a:spcAft>
                <a:spcPts val="500"/>
              </a:spcAft>
              <a:defRPr sz="1100" b="0">
                <a:solidFill>
                  <a:srgbClr val="1E293B"/>
                </a:solidFill>
              </a:defRPr>
            </a:pPr>
            <a:r>
              <a:t>• One due-date logic across the whole fleet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806440"/>
            <a:ext cx="10972800" cy="685800"/>
          </a:xfrm>
          <a:prstGeom prst="rect">
            <a:avLst/>
          </a:prstGeom>
          <a:solidFill>
            <a:srgbClr val="FFFBEB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How to build the plan: use dashboard valve counts and due dates per location · prioritize failed annual lever tests and overdue recerts into the nearest rotation year · leadership approves a 3-year capital forecast (~⅓ of fleet cost per year)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Highest-Impact Program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Section 5.5 — spare coverage is the single highest-impact improvement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1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Acquire spares for valves with none — enables full bench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7744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Rank valves by criticality to prioritize capital spend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24612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5467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Adopt semi-annual visual walkdowns as standard UES practice between formal 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114799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5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Keep dashboard and master register as the single source of truth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983479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92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Management decision needed on routine manual lever testing — risk vs. PG-73.1.3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Program Outcomes &amp; Value Delivered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042416"/>
            <a:ext cx="5440680" cy="507492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79576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00000"/>
                </a:solidFill>
              </a:defRPr>
            </a:pPr>
            <a:r>
              <a:t>Operational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45336"/>
            <a:ext cx="4983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Complete valve inventory across steam systems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Visible compliance status by equipment and site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Traceable history for audits and incidents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Faster planning for Setpoint outages and swaps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Reduced reliance on memory and scattered files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42416"/>
            <a:ext cx="5440680" cy="5074920"/>
          </a:xfrm>
          <a:prstGeom prst="rect">
            <a:avLst/>
          </a:prstGeom>
          <a:solidFill>
            <a:srgbClr val="E0F2FE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179576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00000"/>
                </a:solidFill>
              </a:defRPr>
            </a:pPr>
            <a:r>
              <a:t>Strategic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45336"/>
            <a:ext cx="4983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Code-aligned maintenance strategy document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Foundation for CMMS integration and spare pooling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Data to support capital requests for spares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Leadership-ready reporting via dashboard &amp; Excel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Sustainable program ownership within 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Recommended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Leadership decisions to sustain the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1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Leadership endorsement of the Maintenance Strategy and PM frequencies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7744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Decision on manual lever testing policy (Section 3 — management choice)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246120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5467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Approve 3-year location rotation plan for commercial replacements and recert spend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114799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5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Approve spare-acquisition prioritization for no-spare locations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983479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92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Continue populating dashboard with remaining field discoveries (walkdowns in progress)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852159"/>
            <a:ext cx="128016" cy="12801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93B"/>
                </a:solidFill>
              </a:defRPr>
            </a:pPr>
            <a:r>
              <a:t>Integrate Position Tags and Inventory IDs fleet-wide on physical valve tags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7315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CE7E7"/>
                </a:solidFill>
              </a:defRPr>
            </a:pPr>
            <a:r>
              <a:t>Steam Safety Management Program · Texas A&amp;M UES · Reliability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