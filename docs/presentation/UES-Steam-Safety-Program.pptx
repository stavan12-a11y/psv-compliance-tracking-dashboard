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502920"/>
            <a:ext cx="960120" cy="9601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600200"/>
            <a:ext cx="108813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Steam Safety Management Program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CE7E7"/>
                </a:solidFill>
              </a:defRPr>
            </a:pPr>
            <a:r>
              <a:t>Pressure Safety Valve Compliance · Data · Maintenance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611880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E8C4C4"/>
                </a:solidFill>
              </a:defRPr>
            </a:pPr>
            <a:r>
              <a:t>Texas A&amp;M University · Utilities &amp; Energy Services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580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Field verified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726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Excel master 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872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Live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01887" y="4709160"/>
            <a:ext cx="2331720" cy="438912"/>
          </a:xfrm>
          <a:prstGeom prst="rect">
            <a:avLst/>
          </a:prstGeom>
          <a:solidFill>
            <a:srgbClr val="6B1A1A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Maintenance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06440"/>
            <a:ext cx="10881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</a:defRPr>
            </a:pPr>
            <a:r>
              <a:t>Leadership Briefing · Reliability &amp;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End-to-end program built from the ground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9719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99719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4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719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Program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1159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Field → Excel → Dashboard → 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1791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61791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Fleet-wide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1791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PSVs tracked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3231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Boilers, HRSG, hot water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23863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3863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3 Years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3863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Recert 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5303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NBIC / ASME aligned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5935" y="1325880"/>
            <a:ext cx="2606040" cy="123444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5935" y="1490472"/>
            <a:ext cx="2606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500000"/>
                </a:solidFill>
              </a:defRPr>
            </a:pPr>
            <a:r>
              <a:t>1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5935" y="1984248"/>
            <a:ext cx="26060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1E293B"/>
                </a:solidFill>
              </a:defRPr>
            </a:pPr>
            <a:r>
              <a:t>System of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7375" y="2240280"/>
            <a:ext cx="24231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0">
                <a:solidFill>
                  <a:srgbClr val="64748B"/>
                </a:solidFill>
              </a:defRPr>
            </a:pPr>
            <a:r>
              <a:t>Dashboard + master Excel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2788920"/>
            <a:ext cx="1078992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Walked boiler rooms and steam systems — photographed nameplates and verified installed valves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Built a comprehensive Excel master register, then a live compliance dashboard for the full fleet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Authored a formal PSV/SRV Maintenance Strategy aligned to ASME, NBIC, API RP 576, and Texas code</a:t>
            </a:r>
          </a:p>
          <a:p>
            <a:pPr>
              <a:spcAft>
                <a:spcPts val="1200"/>
              </a:spcAft>
              <a:defRPr sz="1600" b="0">
                <a:solidFill>
                  <a:srgbClr val="1E293B"/>
                </a:solidFill>
              </a:defRPr>
            </a:pPr>
            <a:r>
              <a:t>✓  Outcome: visible compliance, proactive due-date management, and a defendable maintenance program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Why Leadership Should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Risk reduction through visibility and a defendable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Boiler PSVs are code-required safety devices — missed recertification creates regulatory and operational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Before this work, valve status, spare coverage, and due dates were difficult to see across the fleet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Unplanned failures and last-minute testing drive cost, outages, and audit exposure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 structured program reduces surprises, supports TDLR/NBIC expectations, and improves capital planning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This is reliability work that protects people, equipment, and compliance standing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Regulatory &amp; Standards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Program decisions are code-informed, not ad hoc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ASME Section I — boiler safety valve design, capacity, and manual-lift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NBIC Part 2 — in-service inspection and maximum 3-year test intervals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API RP 576 — industry best practice for inspection, testing, and repair of relief devices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16 TAC Chapter 65 &amp; Texas Health &amp; Safety Code Ch. 755 — state boiler program requirements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Maintenance Strategy document ties every PM activity back to these references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Building the 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Field data → Master register → Dashboard → Maintenance strategy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Development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From field discovery to a sustainable maintenance program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Field Data</a:t>
            </a:r>
            <a:br/>
            <a:r>
              <a:t>Collection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Site walks</a:t>
            </a:r>
            <a:br/>
            <a:r>
              <a:t>Nameplate photos</a:t>
            </a:r>
            <a:br/>
            <a:r>
              <a:t>Valve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0332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Master Excel</a:t>
            </a:r>
            <a:br/>
            <a:r>
              <a:t>Register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Sort &amp; normalize</a:t>
            </a:r>
            <a:br/>
            <a:r>
              <a:t>Track due dates</a:t>
            </a:r>
            <a:br/>
            <a:r>
              <a:t>Inventory IDs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3796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2084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Digital</a:t>
            </a:r>
            <a:br/>
            <a:r>
              <a:t>Dashboard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Fleet KPIs</a:t>
            </a:r>
            <a:br/>
            <a:r>
              <a:t>Drill-down views</a:t>
            </a:r>
            <a:br/>
            <a:r>
              <a:t>Excel exports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42900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B83A3A"/>
                </a:solidFill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55480" y="1417319"/>
            <a:ext cx="2697480" cy="452628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738360" y="1600200"/>
            <a:ext cx="502920" cy="502920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240280"/>
            <a:ext cx="24231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E293B"/>
                </a:solidFill>
              </a:defRPr>
            </a:pPr>
            <a:r>
              <a:t>Maintenance</a:t>
            </a:r>
            <a:br/>
            <a:r>
              <a:t>Strategy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291840"/>
            <a:ext cx="242316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</a:defRPr>
            </a:pPr>
            <a:r>
              <a:t>PM intervals</a:t>
            </a:r>
            <a:br/>
            <a:r>
              <a:t>Spare pooling</a:t>
            </a:r>
            <a:br/>
            <a:r>
              <a:t>Code alignment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1 — Field Data Collection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Ground truth before any database or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Walked boiler rooms and steam systems to locate every relief valve and protected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Captured nameplate photos: serial number, set pressure (CDTP), orifice, manufacturer, NB number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Verified what was actually installed vs. what drawings or records showed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Documented spare availability, valve orientation, discharge path, and visible condition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Flagged gaps: missing spares, illegible nameplates, weeping seats, isolation concerns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What We Captured in the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Equipment &amp; location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Boiler / HRSG / commercial unit identity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Protected location (steam drum, economizer, etc.)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Position on the system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Installed vs. spare status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Valve identity &amp;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Serial number &amp; manufacturer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Set pressure and capacity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National Board number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Nameplate photo evidence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Visible leakage, corrosion, or damage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Phase 2 — Master Excel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The bridge between field discovery and digital management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Built a comprehensive Excel master file as the first system of record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Sorted and normalized field data across equipment, locations, and serial numbers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Tracked install dates, service history, spare availability, and recert due dates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Assigned Inventory IDs and position-oriented tags for procurement and CMMS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Used Excel to validate completeness before investing in a digital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1830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64515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Master file still supports bulk reporting and leadership reviews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3 — Digital Compliance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Operational visibility for the whole fleet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Dashboard Capabilities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reliability-and-compliance-dashboar.vercel.app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Site-wide KPIs: Total PSVs, Installed, Out for Service, Overdue, Compliant %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Equipment → Location → PSV hierarchy matching how operators think about the plant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Automatic 3-year due-date calculation from install or on-site service history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Inventory ID visible on locations, KPI views, and exports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Status history and separate repair/overhaul history per valve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1830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64515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Excel report download: All PSVs, Installed, Out for Service, Overdue, Upcoming Due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Dashboard — Fleet Compliance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Live production dashboard — site-wide compliance posture and equipment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KPI Drill-Down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2-kpi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Click any KPI to see the exact valves driving that metric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Equipment &amp; Location Views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3-equip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Scoped view per boiler with location-level Inventory ID and installed valve due dates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Record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05-psv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42416"/>
            <a:ext cx="109728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623620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64748B"/>
                </a:solidFill>
              </a:defRPr>
            </a:pPr>
            <a:r>
              <a:t>Full datasheet, compliance clock, status history, and repair/overhaul log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Phase 4 — Maintenance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Formal PSV/SRV program document for UES operations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PM Intervals &amp;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Maximum intervals shown — UES should complete before due date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10642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645920"/>
                <a:gridCol w="2560320"/>
                <a:gridCol w="4572000"/>
              </a:tblGrid>
              <a:tr h="10241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Activity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Frequency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Code / reference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Notes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Pop test &amp;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Every 3 years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NBIC Part 2, ASME Sec. I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Send to Setpoint — complete before due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Visual walkdown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Semi-annual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Weeping, corrosion, discharge path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Manual lever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Annual (optional)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PG-73.1.3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Management decision — seat damage risk</a:t>
                      </a:r>
                    </a:p>
                  </a:txBody>
                  <a:tcPr anchor="ctr">
                    <a:noFill/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Condition inspection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As needed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API RP 576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Leakage, chattering, damage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Testing Methods — Send-Out vs. In-Place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Long-term goal: spare coverage for all valves to enable send-out testing fleet-wide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80560"/>
                <a:gridCol w="4480560"/>
              </a:tblGrid>
              <a:tr h="8534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Factor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Send-out (preferred)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In-place (no spare)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Process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Remove valve → install spare → bench overhaul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Setpoint tests on live system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Inspection depth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Full disassembly, lapping, spring check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Functional lift only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Certification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Complete overhaul + pop test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Equivalent certification issued</a:t>
                      </a:r>
                    </a:p>
                  </a:txBody>
                  <a:tcPr anchor="ctr">
                    <a:noFill/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Lower seat-damage risk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Higher risk on older valves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Fleet-wide spare coverage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Interim until spare acquired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Pre-Test Field Checklist (Highlights)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4.1 of Maintenance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2646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35331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Valve body/bonnet — no active corrosion or mechanical damage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84832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Discharge stack — clear, supported, no standing water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74320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Nameplate legible — record set pressure, serial, orifice, manufacture year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0156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2841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No seat weeping at inlet; lifting lever free if equipped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059935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3986783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Confirm valve not inadvertently isolated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1830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64515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Checklist completed before every removal or in-place test — filed in CMMS work order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Valve Identification &amp; Labeling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Read the tag left to right — each segment has a fixed meaning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g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42519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94360" y="5897880"/>
            <a:ext cx="10972800" cy="502920"/>
          </a:xfrm>
          <a:prstGeom prst="rect">
            <a:avLst/>
          </a:prstGeom>
          <a:solidFill>
            <a:srgbClr val="FFFBEB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E293B"/>
                </a:solidFill>
              </a:defRPr>
            </a:pPr>
            <a:r>
              <a:t>Physical tag is two-sided: Position Tag + Inventory ID + Serial Number + Service + Location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Section 8 · Maintenance Strategy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Overhaul vs. Repair vs. Replace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1556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Overhaul: full disassembly, seat lapping, spring inspection, certified pop test — bundled with 3-year send-out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7393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Repair: limited-scope fix (e.g., seat lapping, spring) — must be VR-stamp work with re-test before return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05456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Replace when: body damage, obsolete design, economics favor new valve, or high-criticality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6382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Spares in storage &gt;5 years: re-test before installation per API RP 576 guidance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22191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Decision criteria documented so procurement and operations align on the same rules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Commercial 125 psi Boiler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4748B"/>
                </a:solidFill>
              </a:defRPr>
            </a:pPr>
            <a:r>
              <a:t>Section 7 — *illustrative pending actual vendor quotes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70432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" y="1280160"/>
          <a:ext cx="1097280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3200400"/>
                <a:gridCol w="338328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Annual valves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Cost trend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 anchor="ctr">
                    <a:solidFill>
                      <a:srgbClr val="500000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Replace-and-discard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~16+ / year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Recurring purchase every cycle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Simple but highest lifecycle cost</a:t>
                      </a:r>
                    </a:p>
                  </a:txBody>
                  <a:tcPr anchor="ctr">
                    <a:noFill/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Test-and-reuse + spare pool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Same fleet, pooled spares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~40% reduction after pool built*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Mirror high-pressure program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Pilot program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3–5 valves first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Validate quotes &amp; turnaround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E293B"/>
                          </a:solidFill>
                        </a:defRPr>
                      </a:pPr>
                      <a:r>
                        <a:t>Prove before fleet-wide change</a:t>
                      </a:r>
                    </a:p>
                  </a:txBody>
                  <a:tcPr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Highest-Impact Program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1556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Acquire spares for valves currently without a designated spare — enables full bench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7393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Rank valves by criticality (pressure, capacity, consequence of failure) to prioritize capital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05456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Adopt semi-annual visual walkdowns as standard UES practice between formal tests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6382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Keep dashboard and master register as the single source of truth for due dates and 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22191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Management decision needed on routine manual lever testing — risk vs. PG-73.1.3 compliance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Program Outcomes &amp; Value Delivered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042416"/>
            <a:ext cx="5440680" cy="5074920"/>
          </a:xfrm>
          <a:prstGeom prst="rect">
            <a:avLst/>
          </a:prstGeom>
          <a:solidFill>
            <a:srgbClr val="FDF8F8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Operational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Complete valve inventory across steam systems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Visible compliance status by equipment and site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Traceable history for audits and incidents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Faster planning for Setpoint outages and swaps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Reduced reliance on memory and scattered files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042416"/>
            <a:ext cx="5440680" cy="5074920"/>
          </a:xfrm>
          <a:prstGeom prst="rect">
            <a:avLst/>
          </a:prstGeom>
          <a:solidFill>
            <a:srgbClr val="E0F2FE"/>
          </a:solidFill>
          <a:ln>
            <a:solidFill>
              <a:srgbClr val="B83A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179576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500000"/>
                </a:solidFill>
              </a:defRPr>
            </a:pPr>
            <a:r>
              <a:t>Strategic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545336"/>
            <a:ext cx="4983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Code-aligned maintenance strategy document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Foundation for CMMS integration and spare pooling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Data to support capital requests for spares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Leadership-ready reporting via dashboard &amp; Excel</a:t>
            </a:r>
          </a:p>
          <a:p>
            <a:pPr>
              <a:spcAft>
                <a:spcPts val="800"/>
              </a:spcAft>
              <a:defRPr sz="1400" b="0">
                <a:solidFill>
                  <a:srgbClr val="1E293B"/>
                </a:solidFill>
              </a:defRPr>
            </a:pPr>
            <a:r>
              <a:t>• Sustainable program ownership within UES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92608"/>
            <a:ext cx="1106424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00000"/>
                </a:solidFill>
              </a:defRPr>
            </a:pPr>
            <a:r>
              <a:t>Recommended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94360" y="932688"/>
            <a:ext cx="10972800" cy="36576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11556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Leadership endorsement of the Maintenance Strategy and PM frequencies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47088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73936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Decision on manual lever testing policy (Section 3 — management choice)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505456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32304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Approve spare-acquisition prioritization for no-spare locations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63824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090672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Pilot test-and-reuse for commercial 125 psi valves (Section 7.5)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822191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749039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Continue populating dashboard with remaining field discoveries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4480560"/>
            <a:ext cx="164592" cy="16459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07408"/>
            <a:ext cx="10424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1E293B"/>
                </a:solidFill>
              </a:defRPr>
            </a:pPr>
            <a:r>
              <a:t>Integrate Position Tags and Inventory IDs fleet-wide on physical valve tags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5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6547104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0">
                <a:solidFill>
                  <a:srgbClr val="FFFFFF"/>
                </a:solidFill>
              </a:defRPr>
            </a:pPr>
            <a:r>
              <a:t>Texas A&amp;M UES · Steam Safety Management Program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73152"/>
          </a:xfrm>
          <a:prstGeom prst="rect">
            <a:avLst/>
          </a:prstGeom>
          <a:solidFill>
            <a:srgbClr val="B8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CE7E7"/>
                </a:solidFill>
              </a:defRPr>
            </a:pPr>
            <a:r>
              <a:t>Steam Safety Management Program · Texas A&amp;M UES · Reliability &amp; Compliance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