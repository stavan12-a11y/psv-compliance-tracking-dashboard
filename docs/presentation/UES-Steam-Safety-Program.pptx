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502920"/>
            <a:ext cx="960120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6002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CE7E7"/>
                </a:solidFill>
              </a:defRPr>
            </a:pPr>
            <a:r>
              <a:t>Pressure Safety Valve Compliance · Data · Maintenance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80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Field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26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Excel master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18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Maintenance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End-to-end program built from the ground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9719" y="105156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9719" y="1216151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4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719" y="170992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Program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159" y="196596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Field → Excel → Dashboard →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1791" y="105156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1791" y="1216151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51 PSVs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1791" y="170992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Live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3231" y="196596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Production dashboard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863" y="105156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863" y="1216151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3 Years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863" y="170992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Recert 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303" y="196596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NBIC / ASME aligned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85935" y="105156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5935" y="1216151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1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5935" y="170992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System of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375" y="196596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Dashboard + master 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423160"/>
            <a:ext cx="10789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E293B"/>
                </a:solidFill>
              </a:defRPr>
            </a:pPr>
            <a:r>
              <a:t>✓  Field-verified every valve — nameplates photographed, installs confirmed</a:t>
            </a:r>
          </a:p>
          <a:p>
            <a:pPr>
              <a:spcAft>
                <a:spcPts val="1000"/>
              </a:spcAft>
              <a:defRPr sz="1500" b="0">
                <a:solidFill>
                  <a:srgbClr val="1E293B"/>
                </a:solidFill>
              </a:defRPr>
            </a:pPr>
            <a:r>
              <a:t>✓  Master Excel register → live compliance dashboard for the full fleet</a:t>
            </a:r>
          </a:p>
          <a:p>
            <a:pPr>
              <a:spcAft>
                <a:spcPts val="1000"/>
              </a:spcAft>
              <a:defRPr sz="1500" b="0">
                <a:solidFill>
                  <a:srgbClr val="1E293B"/>
                </a:solidFill>
              </a:defRPr>
            </a:pPr>
            <a:r>
              <a:t>✓  Formal Maintenance Strategy aligned to ASME, NBIC, API RP 576, Texas code</a:t>
            </a:r>
          </a:p>
          <a:p>
            <a:pPr>
              <a:spcAft>
                <a:spcPts val="1000"/>
              </a:spcAft>
              <a:defRPr sz="1500" b="0">
                <a:solidFill>
                  <a:srgbClr val="1E293B"/>
                </a:solidFill>
              </a:defRPr>
            </a:pPr>
            <a:r>
              <a:t>✓  Outcome: visible compliance, proactive due dates, defendable PM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4291" y="4892040"/>
            <a:ext cx="2148840" cy="658368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500000"/>
                </a:solidFill>
              </a:defRPr>
            </a:pPr>
            <a:r>
              <a:t>I</a:t>
            </a:r>
          </a:p>
          <a:p>
            <a:pPr algn="ctr">
              <a:defRPr sz="900" b="0">
                <a:solidFill>
                  <a:srgbClr val="1E293B"/>
                </a:solidFill>
              </a:defRPr>
            </a:pPr>
            <a:r>
              <a:t>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2859" y="4892040"/>
            <a:ext cx="2148840" cy="658368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500000"/>
                </a:solidFill>
              </a:defRPr>
            </a:pPr>
            <a:r>
              <a:t>II</a:t>
            </a:r>
          </a:p>
          <a:p>
            <a:pPr algn="ctr">
              <a:defRPr sz="900" b="0">
                <a:solidFill>
                  <a:srgbClr val="1E293B"/>
                </a:solidFill>
              </a:defRPr>
            </a:pPr>
            <a:r>
              <a:t>Field &amp; Excel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1427" y="4892040"/>
            <a:ext cx="2148840" cy="658368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500000"/>
                </a:solidFill>
              </a:defRPr>
            </a:pPr>
            <a:r>
              <a:t>III</a:t>
            </a:r>
          </a:p>
          <a:p>
            <a:pPr algn="ctr">
              <a:defRPr sz="900" b="0">
                <a:solidFill>
                  <a:srgbClr val="1E293B"/>
                </a:solidFill>
              </a:defRPr>
            </a:pPr>
            <a:r>
              <a:t>Dashboard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9995" y="4892040"/>
            <a:ext cx="2148840" cy="658368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500000"/>
                </a:solidFill>
              </a:defRPr>
            </a:pPr>
            <a:r>
              <a:t>IV</a:t>
            </a:r>
          </a:p>
          <a:p>
            <a:pPr algn="ctr">
              <a:defRPr sz="900" b="0">
                <a:solidFill>
                  <a:srgbClr val="1E293B"/>
                </a:solidFill>
              </a:defRPr>
            </a:pPr>
            <a:r>
              <a:t>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38563" y="4892040"/>
            <a:ext cx="2148840" cy="658368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500000"/>
                </a:solidFill>
              </a:defRPr>
            </a:pPr>
            <a:r>
              <a:t>V</a:t>
            </a:r>
          </a:p>
          <a:p>
            <a:pPr algn="ctr">
              <a:defRPr sz="900" b="0">
                <a:solidFill>
                  <a:srgbClr val="1E293B"/>
                </a:solidFill>
              </a:defRPr>
            </a:pPr>
            <a:r>
              <a:t>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Why This Program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Risks addressed and code foundation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24712"/>
            <a:ext cx="544068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0000"/>
                </a:solidFill>
              </a:defRPr>
            </a:pPr>
            <a: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16152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</a:defRPr>
            </a:pPr>
            <a:r>
              <a:t>Regulatory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Missed 3-year recert → TDLR / NBIC exposure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124712"/>
            <a:ext cx="5440680" cy="123444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0000"/>
                </a:solidFill>
              </a:defRPr>
            </a:pPr>
            <a:r>
              <a:t>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216152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</a:defRPr>
            </a:pPr>
            <a:r>
              <a:t>Visibility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Fleet status &amp; spares were hard to see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542032"/>
            <a:ext cx="5440680" cy="123444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0000"/>
                </a:solidFill>
              </a:defRPr>
            </a:pPr>
            <a: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33472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</a:defRPr>
            </a:pPr>
            <a:r>
              <a:t>Cost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Last-minute testing &amp; unplanned outages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542032"/>
            <a:ext cx="5440680" cy="123444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651760"/>
            <a:ext cx="365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solidFill>
                  <a:srgbClr val="500000"/>
                </a:solidFill>
              </a:defRPr>
            </a:pPr>
            <a: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33472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293B"/>
                </a:solidFill>
              </a:defRPr>
            </a:pPr>
            <a:r>
              <a:t>Audit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Scattered records, no defendable program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8795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535424"/>
            <a:ext cx="2697480" cy="9601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ASME Sec. I</a:t>
            </a:r>
          </a:p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Design, capacity, manual-lift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4535424"/>
            <a:ext cx="2697480" cy="9601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NBIC Pt. 2</a:t>
            </a:r>
          </a:p>
          <a:p>
            <a:pPr algn="ctr">
              <a:defRPr sz="1000" b="0">
                <a:solidFill>
                  <a:srgbClr val="64748B"/>
                </a:solidFill>
              </a:defRPr>
            </a:pPr>
            <a:r>
              <a:t>3-year max in-service interval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35424"/>
            <a:ext cx="2697480" cy="9601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API RP 576</a:t>
            </a:r>
          </a:p>
          <a:p>
            <a:pPr algn="ctr">
              <a:defRPr sz="1000" b="0">
                <a:solidFill>
                  <a:srgbClr val="64748B"/>
                </a:solidFill>
              </a:defRPr>
            </a:pPr>
            <a:r>
              <a:t>Inspection &amp; repair best practice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4535424"/>
            <a:ext cx="2697480" cy="9601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TX Ch. 65</a:t>
            </a:r>
          </a:p>
          <a:p>
            <a:pPr algn="ctr">
              <a:defRPr sz="1000" b="0">
                <a:solidFill>
                  <a:srgbClr val="64748B"/>
                </a:solidFill>
              </a:defRPr>
            </a:pPr>
            <a:r>
              <a:t>State boiler program requirements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Site walks</a:t>
            </a:r>
            <a:br/>
            <a:r>
              <a:t>Nameplate photos</a:t>
            </a:r>
            <a:br/>
            <a:r>
              <a:t>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Sort &amp; normalize</a:t>
            </a:r>
            <a:br/>
            <a:r>
              <a:t>Track due dates</a:t>
            </a:r>
            <a:br/>
            <a:r>
              <a:t>Inventory 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Fleet KPIs</a:t>
            </a:r>
            <a:br/>
            <a:r>
              <a:t>Drill-down views</a:t>
            </a:r>
            <a:br/>
            <a:r>
              <a:t>Excel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PM intervals</a:t>
            </a:r>
            <a:br/>
            <a:r>
              <a:t>Spare pooling</a:t>
            </a:r>
            <a:br/>
            <a:r>
              <a:t>Code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Phases 1–2: Field Discovery &amp; Master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Ground truth before digitizing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24712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Phase 1 — Field collection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E293B"/>
                </a:solidFill>
              </a:defRPr>
            </a:pPr>
            <a:r>
              <a:t>• Walk every boiler room — locate each relief valve</a:t>
            </a:r>
          </a:p>
          <a:p>
            <a:pPr>
              <a:spcAft>
                <a:spcPts val="400"/>
              </a:spcAft>
              <a:defRPr sz="1200" b="0">
                <a:solidFill>
                  <a:srgbClr val="1E293B"/>
                </a:solidFill>
              </a:defRPr>
            </a:pPr>
            <a:r>
              <a:t>• Photograph nameplates; verify install vs. records</a:t>
            </a:r>
          </a:p>
          <a:p>
            <a:pPr>
              <a:spcAft>
                <a:spcPts val="400"/>
              </a:spcAft>
              <a:defRPr sz="1200" b="0">
                <a:solidFill>
                  <a:srgbClr val="1E293B"/>
                </a:solidFill>
              </a:defRPr>
            </a:pPr>
            <a:r>
              <a:t>• Document spares, discharge path, condition gaps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56432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00000"/>
                </a:solidFill>
              </a:defRPr>
            </a:pPr>
            <a:r>
              <a:t>What we captured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30752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E293B"/>
                </a:solidFill>
              </a:defRPr>
            </a:pPr>
            <a:r>
              <a:t>• Unit identity, protected location, installed vs. spare</a:t>
            </a:r>
          </a:p>
          <a:p>
            <a:pPr>
              <a:spcAft>
                <a:spcPts val="400"/>
              </a:spcAft>
              <a:defRPr sz="1200" b="0">
                <a:solidFill>
                  <a:srgbClr val="1E293B"/>
                </a:solidFill>
              </a:defRPr>
            </a:pPr>
            <a:r>
              <a:t>• Serial #, manufacturer, set pressure, capacity, NB #</a:t>
            </a:r>
          </a:p>
          <a:p>
            <a:pPr>
              <a:spcAft>
                <a:spcPts val="400"/>
              </a:spcAft>
              <a:defRPr sz="1200" b="0">
                <a:solidFill>
                  <a:srgbClr val="1E293B"/>
                </a:solidFill>
              </a:defRPr>
            </a:pPr>
            <a:r>
              <a:t>• Nameplate photo evidence for every valve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24712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344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27632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500000"/>
                </a:solidFill>
              </a:defRPr>
            </a:pPr>
            <a:r>
              <a:t>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609344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Import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Normalize field data by equipment &amp; 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500000"/>
                </a:solidFill>
              </a:defRPr>
            </a:pPr>
            <a: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724912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Sort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Due dates, spares, Inventory IDs assigned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58768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500000"/>
                </a:solidFill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840480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Validate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Completeness check before digitizing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974336"/>
            <a:ext cx="411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500000"/>
                </a:solidFill>
              </a:defRPr>
            </a:pPr>
            <a:r>
              <a:t>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4956048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293B"/>
                </a:solidFill>
              </a:defRPr>
            </a:pPr>
            <a:r>
              <a:t>Report</a:t>
            </a:r>
          </a:p>
          <a:p>
            <a:pPr>
              <a:defRPr sz="1100" b="0">
                <a:solidFill>
                  <a:srgbClr val="64748B"/>
                </a:solidFill>
              </a:defRPr>
            </a:pPr>
            <a:r>
              <a:t>5-sheet export for leadership reviews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Phase 3 — Live Compliance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64311" y="1170432"/>
            <a:ext cx="2633472" cy="7772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Fleet KPIs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Total, OOS, Overdue, Compliant %</a:t>
            </a:r>
          </a:p>
        </p:txBody>
      </p:sp>
      <p:sp>
        <p:nvSpPr>
          <p:cNvPr id="5" name="Rectangle 4"/>
          <p:cNvSpPr/>
          <p:nvPr/>
        </p:nvSpPr>
        <p:spPr>
          <a:xfrm>
            <a:off x="3407511" y="1170432"/>
            <a:ext cx="2633472" cy="77724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Drill-down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KPI → valve list with Inventory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6150711" y="1170432"/>
            <a:ext cx="2633472" cy="7772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Hierarchy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Equipment → Location → PSV</a:t>
            </a:r>
          </a:p>
        </p:txBody>
      </p:sp>
      <p:sp>
        <p:nvSpPr>
          <p:cNvPr id="7" name="Rectangle 6"/>
          <p:cNvSpPr/>
          <p:nvPr/>
        </p:nvSpPr>
        <p:spPr>
          <a:xfrm>
            <a:off x="8893911" y="1170432"/>
            <a:ext cx="2633472" cy="77724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Export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5-sheet Excel for meetings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039112"/>
            <a:ext cx="11795760" cy="73723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" y="6263640"/>
            <a:ext cx="11795760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Live production — 51 PSVs, 78% compliant, fleet-wide equipment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Dashboard Drill-Down &amp; Equipment Views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623560" cy="351472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11480" y="5989320"/>
            <a:ext cx="562356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Click any KPI to see the valves driving that metric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960120"/>
            <a:ext cx="5623560" cy="351472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5989320"/>
            <a:ext cx="562356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Boiler 001/HRSG — locations with Inventory ID and due 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Datasheet, compliance clock, status &amp; repair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Maintenance Strategy — PM &amp;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Phase 4 · Formal program document for UES operations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24712"/>
          <a:ext cx="110642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560320"/>
                <a:gridCol w="4572000"/>
              </a:tblGrid>
              <a:tr h="44805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Code / reference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Pop test &amp;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Every 3 years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2, ASME Sec. I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Send to Setpoint — complete before due</a:t>
                      </a:r>
                    </a:p>
                  </a:txBody>
                  <a:tcPr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Visual walkdown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Semi-annual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Weeping, corrosion, discharge path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Manual lever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Annual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PG-73.1.3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Management decision — seat damage risk</a:t>
                      </a:r>
                    </a:p>
                  </a:txBody>
                  <a:tcPr anchor="ctr">
                    <a:noFill/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Condition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As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Leakage, chattering, damage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456432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500000"/>
                </a:solidFill>
              </a:defRPr>
            </a:pPr>
            <a:r>
              <a:t>Testing methods — send-out (preferred) vs. in-place (no spare)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3730752"/>
          <a:ext cx="1097280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4343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Send-out (preferred)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In-place (no spare)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Process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Remove valve → install spare → bench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Setpoint tests on live system</a:t>
                      </a:r>
                    </a:p>
                  </a:txBody>
                  <a:tcPr anchor="ctr">
                    <a:noFill/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Inspection depth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Full disassembly, lapping, spring check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Functional lift only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Certification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Complete overhaul +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Equivalent certification issued</a:t>
                      </a:r>
                    </a:p>
                  </a:txBody>
                  <a:tcPr anchor="ctr">
                    <a:noFill/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Lower seat-damage 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Higher risk on older valves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Fleet-wide spare coverage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Interim until spare acquired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14476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Long-term goal: spare coverage for all valves to enable send-out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Field Operations — Inspection Checklist &amp; Valve Tagging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Section 4.1 checklist · Position tag labeling standard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124712"/>
          <a:ext cx="6355079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977639"/>
                <a:gridCol w="320040"/>
                <a:gridCol w="320040"/>
                <a:gridCol w="320040"/>
              </a:tblGrid>
              <a:tr h="4927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Checkpoint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Accept / Reject criteria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Valve body and bonnet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No active corrosion, pitting, or mechanical damage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Discharge pipe / stack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Clear, supported; no standing water; drip pocket if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Drain / weep hole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Open and unobstructed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Body and bonnet bolting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All fasteners present; no cracks or corrosion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Nameplate legibility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CDTP, serial, orifice, year legible — record in WO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Inlet / nozzle area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No weeping at seat; dry mating surfaces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Test gag / lifting lever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Free-moving; not locked or wired shut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49276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Inlet isolation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800" b="0">
                          <a:solidFill>
                            <a:srgbClr val="1E293B"/>
                          </a:solidFill>
                        </a:defRPr>
                      </a:pPr>
                      <a:r>
                        <a:t>Valve in-line and not inadvertently isolated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124712"/>
            <a:ext cx="4251960" cy="164763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0" y="4919472"/>
            <a:ext cx="4251960" cy="64008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Two-sided tag: Position Tag + Inventory ID + Serial + Service + 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5989320"/>
            <a:ext cx="6492240" cy="347472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E293B"/>
                </a:solidFill>
              </a:defRPr>
            </a:pPr>
            <a:r>
              <a:t>Inspector: ________  Date: ________  WO #: ________  Equipment: ________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Repair Decisions &amp; 125 psi Boiler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Setpoint guidance · Section 7 management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8595360" y="274320"/>
            <a:ext cx="2651760" cy="347472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2400E"/>
                </a:solidFill>
              </a:defRPr>
            </a:pPr>
            <a:r>
              <a:t>ILLUSTRATIVE — pending vendor quotes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24712"/>
            <a:ext cx="3520440" cy="16916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16152"/>
            <a:ext cx="3520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500000"/>
                </a:solidFill>
              </a:defRPr>
            </a:pPr>
            <a:r>
              <a:t>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Overhaul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3-year send-out — Disassembly, lapping, certified pop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124712"/>
            <a:ext cx="3520440" cy="169164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216152"/>
            <a:ext cx="3520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500000"/>
                </a:solidFill>
              </a:defRPr>
            </a:pPr>
            <a:r>
              <a:t>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Repair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Limited defect — VR-stamp scope + re-test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124712"/>
            <a:ext cx="3520440" cy="169164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216152"/>
            <a:ext cx="3520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500000"/>
                </a:solidFill>
              </a:defRPr>
            </a:pPr>
            <a: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08760"/>
            <a:ext cx="3337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Replace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Body damage — New valve when economics favor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2999232"/>
          <a:ext cx="109728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3200400"/>
                <a:gridCol w="3383280"/>
              </a:tblGrid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valves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Cost trend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Replace-and-discard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~16+ / year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Recurring purchase every cycle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Simple but highest lifecycle cost</a:t>
                      </a:r>
                    </a:p>
                  </a:txBody>
                  <a:tcPr anchor="ctr">
                    <a:noFill/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Test-and-reuse + spare pool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Same fleet, pooled spares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~40% reduction after pool built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Mirror high-pressure program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Pilot program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3–5 valves first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Validate quotes &amp; turnaround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Prove before fleet-wide change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64748B"/>
                </a:solidFill>
              </a:defRPr>
            </a:pPr>
            <a:r>
              <a:t>Spares in storage &gt;5 years: re-test before install per API RP 576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Value Delivered &amp; 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Leadership decisions to sustain the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24712"/>
            <a:ext cx="5440680" cy="30632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00000"/>
                </a:solidFill>
              </a:defRPr>
            </a:pPr>
            <a:r>
              <a:t>Operational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4983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Complete fleet inventory &amp; visible compliance by site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Traceable audit history &amp; faster Setpoint planning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Spare coverage, walkdowns, dashboard as system of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124712"/>
            <a:ext cx="5440680" cy="306324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00000"/>
                </a:solidFill>
              </a:defRPr>
            </a:pPr>
            <a:r>
              <a:t>Strategic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36192"/>
            <a:ext cx="4983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Code-aligned strategy doc (ASME, NBIC, API RP 576)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CMMS &amp; spare-pool foundation for capital requests</a:t>
            </a:r>
          </a:p>
          <a:p>
            <a:pPr>
              <a:spcAft>
                <a:spcPts val="600"/>
              </a:spcAft>
              <a:defRPr sz="1200" b="0">
                <a:solidFill>
                  <a:srgbClr val="1E293B"/>
                </a:solidFill>
              </a:defRPr>
            </a:pPr>
            <a:r>
              <a:t>• Sustainable UES ownership of steam safety program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370831"/>
            <a:ext cx="11018520" cy="196596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89704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879" y="4828031"/>
            <a:ext cx="260604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E293B"/>
                </a:solidFill>
              </a:defRPr>
            </a:pPr>
            <a:r>
              <a:t>1. Endorse Maintenance Strategy and PM frequencies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7511" y="4828031"/>
            <a:ext cx="260604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E293B"/>
                </a:solidFill>
              </a:defRPr>
            </a:pPr>
            <a:r>
              <a:t>2. Approve spare-acquisition priority 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4828031"/>
            <a:ext cx="260604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E293B"/>
                </a:solidFill>
              </a:defRPr>
            </a:pPr>
            <a:r>
              <a:t>3. Pilot test-and-reuse on 125 psi valves (3–5 unit pilot)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48775" y="4828031"/>
            <a:ext cx="260604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E293B"/>
                </a:solidFill>
              </a:defRPr>
            </a:pPr>
            <a:r>
              <a:t>4. Fleet-wide physical tagging — Position Tag + Inventory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