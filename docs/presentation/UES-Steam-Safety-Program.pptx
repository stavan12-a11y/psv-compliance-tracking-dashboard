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502920"/>
            <a:ext cx="960120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60020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Steam Safety Management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CE7E7"/>
                </a:solidFill>
              </a:defRPr>
            </a:pPr>
            <a:r>
              <a:t>Pressure Safety Valve Compliance · Data · Maintenance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E8C4C4"/>
                </a:solidFill>
              </a:defRPr>
            </a:pPr>
            <a:r>
              <a:t>Texas A&amp;M University · Utilities &amp; Energy 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580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Field verified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26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Excel master file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72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Live dashboard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018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Maintenance strategy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End-to-end program built from the ground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9719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9719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4 Phases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719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Program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1159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Field → Excel → Dashboard → Strategy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1791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1791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51 PSVs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1791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Live fleet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3231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Production dashboard today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3863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3863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3 Years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Recert 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5303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NBIC / ASME aligned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5935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5935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1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5935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System of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7375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Dashboard + master Excel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78892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0">
                <a:solidFill>
                  <a:srgbClr val="1E293B"/>
                </a:solidFill>
              </a:defRPr>
            </a:pPr>
            <a:r>
              <a:t>✓  Field-verified every valve — nameplates photographed, installs confirmed</a:t>
            </a:r>
          </a:p>
          <a:p>
            <a:pPr>
              <a:spcAft>
                <a:spcPts val="1400"/>
              </a:spcAft>
              <a:defRPr sz="1700" b="0">
                <a:solidFill>
                  <a:srgbClr val="1E293B"/>
                </a:solidFill>
              </a:defRPr>
            </a:pPr>
            <a:r>
              <a:t>✓  Master Excel register → live compliance dashboard for the full fleet</a:t>
            </a:r>
          </a:p>
          <a:p>
            <a:pPr>
              <a:spcAft>
                <a:spcPts val="1400"/>
              </a:spcAft>
              <a:defRPr sz="1700" b="0">
                <a:solidFill>
                  <a:srgbClr val="1E293B"/>
                </a:solidFill>
              </a:defRPr>
            </a:pPr>
            <a:r>
              <a:t>✓  Formal Maintenance Strategy aligned to ASME, NBIC, API RP 576, Texas code</a:t>
            </a:r>
          </a:p>
          <a:p>
            <a:pPr>
              <a:spcAft>
                <a:spcPts val="1400"/>
              </a:spcAft>
              <a:defRPr sz="1700" b="0">
                <a:solidFill>
                  <a:srgbClr val="1E293B"/>
                </a:solidFill>
              </a:defRPr>
            </a:pPr>
            <a:r>
              <a:t>✓  Outcome: visible compliance, proactive due dates, defendable PM program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Today's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Where we are in a 20-slide working session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63039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444751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</a:defRPr>
            </a:pPr>
            <a:r>
              <a:t>Context &amp; Why It Matters</a:t>
            </a:r>
          </a:p>
          <a:p>
            <a:pPr>
              <a:defRPr sz="1300" b="0">
                <a:solidFill>
                  <a:srgbClr val="64748B"/>
                </a:solidFill>
              </a:defRPr>
            </a:pPr>
            <a:r>
              <a:t>Risk, regulatory foundation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2316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404872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</a:defRPr>
            </a:pPr>
            <a:r>
              <a:t>Building the Program</a:t>
            </a:r>
          </a:p>
          <a:p>
            <a:pPr>
              <a:defRPr sz="1300" b="0">
                <a:solidFill>
                  <a:srgbClr val="64748B"/>
                </a:solidFill>
              </a:defRPr>
            </a:pPr>
            <a:r>
              <a:t>Field → Excel → validation path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38328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364992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</a:defRPr>
            </a:pPr>
            <a:r>
              <a:t>Live Dashboard</a:t>
            </a:r>
          </a:p>
          <a:p>
            <a:pPr>
              <a:defRPr sz="1300" b="0">
                <a:solidFill>
                  <a:srgbClr val="64748B"/>
                </a:solidFill>
              </a:defRPr>
            </a:pPr>
            <a:r>
              <a:t>Production screenshots &amp; capabilities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3434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325112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</a:defRPr>
            </a:pPr>
            <a:r>
              <a:t>Maintenance Strategy</a:t>
            </a:r>
          </a:p>
          <a:p>
            <a:pPr>
              <a:defRPr sz="1300" b="0">
                <a:solidFill>
                  <a:srgbClr val="64748B"/>
                </a:solidFill>
              </a:defRPr>
            </a:pPr>
            <a:r>
              <a:t>PM intervals, testing, checklist, tagging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30352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285232"/>
            <a:ext cx="96012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293B"/>
                </a:solidFill>
              </a:defRPr>
            </a:pPr>
            <a:r>
              <a:t>Outcomes &amp; Next Steps</a:t>
            </a:r>
          </a:p>
          <a:p>
            <a:pPr>
              <a:defRPr sz="1300" b="0">
                <a:solidFill>
                  <a:srgbClr val="64748B"/>
                </a:solidFill>
              </a:defRPr>
            </a:pPr>
            <a:r>
              <a:t>Value delivered, leadership decisions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Why Leadership Should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Four risks this program directly addresses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5440680" cy="23317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39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500000"/>
                </a:solidFill>
              </a:defRPr>
            </a:pPr>
            <a:r>
              <a:t>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463039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293B"/>
                </a:solidFill>
              </a:defRPr>
            </a:pPr>
            <a:r>
              <a:t>Regulatory</a:t>
            </a:r>
          </a:p>
          <a:p>
            <a:pPr>
              <a:defRPr sz="1400" b="0">
                <a:solidFill>
                  <a:srgbClr val="64748B"/>
                </a:solidFill>
              </a:defRPr>
            </a:pPr>
            <a:r>
              <a:t>Missed 3-year recert → TDLR / NBIC exposure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280160"/>
            <a:ext cx="5440680" cy="233172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39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500000"/>
                </a:solidFill>
              </a:defRPr>
            </a:pPr>
            <a:r>
              <a:t>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463039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293B"/>
                </a:solidFill>
              </a:defRPr>
            </a:pPr>
            <a:r>
              <a:t>Visibility</a:t>
            </a:r>
          </a:p>
          <a:p>
            <a:pPr>
              <a:defRPr sz="1400" b="0">
                <a:solidFill>
                  <a:srgbClr val="64748B"/>
                </a:solidFill>
              </a:defRPr>
            </a:pPr>
            <a:r>
              <a:t>Fleet status &amp; spares were hard to see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3886200"/>
            <a:ext cx="5440680" cy="2331720"/>
          </a:xfrm>
          <a:prstGeom prst="rect">
            <a:avLst/>
          </a:prstGeom>
          <a:solidFill>
            <a:srgbClr val="ECFDF5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500000"/>
                </a:solidFill>
              </a:defRPr>
            </a:pPr>
            <a:r>
              <a:t>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06908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293B"/>
                </a:solidFill>
              </a:defRPr>
            </a:pPr>
            <a:r>
              <a:t>Cost</a:t>
            </a:r>
          </a:p>
          <a:p>
            <a:pPr>
              <a:defRPr sz="1400" b="0">
                <a:solidFill>
                  <a:srgbClr val="64748B"/>
                </a:solidFill>
              </a:defRPr>
            </a:pPr>
            <a:r>
              <a:t>Last-minute testing &amp; unplanned outages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886200"/>
            <a:ext cx="5440680" cy="2331720"/>
          </a:xfrm>
          <a:prstGeom prst="rect">
            <a:avLst/>
          </a:prstGeom>
          <a:solidFill>
            <a:srgbClr val="ECFDF5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069080"/>
            <a:ext cx="457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0">
                <a:solidFill>
                  <a:srgbClr val="500000"/>
                </a:solidFill>
              </a:defRPr>
            </a:pPr>
            <a:r>
              <a:t>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06908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E293B"/>
                </a:solidFill>
              </a:defRPr>
            </a:pPr>
            <a:r>
              <a:t>Audit</a:t>
            </a:r>
          </a:p>
          <a:p>
            <a:pPr>
              <a:defRPr sz="1400" b="0">
                <a:solidFill>
                  <a:srgbClr val="64748B"/>
                </a:solidFill>
              </a:defRPr>
            </a:pPr>
            <a:r>
              <a:t>Scattered records, no defendable program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Regulatory &amp; Standards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Program decisions are code-informed, not ad hoc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73455" y="1417319"/>
            <a:ext cx="2560320" cy="448056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3455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4895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ASME Sec.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3183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Valve design, capacity, manual-lift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52063" y="329184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4943" y="1417319"/>
            <a:ext cx="2560320" cy="448056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4943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6383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NBIC Pt.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4671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In-service inspection; 3-year max interval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3551" y="329184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6431" y="1417319"/>
            <a:ext cx="2560320" cy="448056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6431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III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7871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API RP 576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6159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Inspection, testing, repair best practice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5039" y="329184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7919" y="1417319"/>
            <a:ext cx="2560320" cy="448056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7919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IV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9359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TX Ch. 65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7647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State boiler program requirements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Program Development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From field discovery to a sustainable maintenance program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Field Data</a:t>
            </a:r>
            <a:br/>
            <a:r>
              <a:t>Collection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Site walks</a:t>
            </a:r>
            <a:br/>
            <a:r>
              <a:t>Nameplate photos</a:t>
            </a:r>
            <a:br/>
            <a:r>
              <a:t>Valve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0332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Master Excel</a:t>
            </a:r>
            <a:br/>
            <a:r>
              <a:t>Register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Sort &amp; normalize</a:t>
            </a:r>
            <a:br/>
            <a:r>
              <a:t>Track due dates</a:t>
            </a:r>
            <a:br/>
            <a:r>
              <a:t>Inventory IDs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2084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Digital</a:t>
            </a:r>
            <a:br/>
            <a:r>
              <a:t>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Fleet KPIs</a:t>
            </a:r>
            <a:br/>
            <a:r>
              <a:t>Drill-down views</a:t>
            </a:r>
            <a:br/>
            <a:r>
              <a:t>Excel exports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5548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3836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Maintenance</a:t>
            </a:r>
            <a:br/>
            <a:r>
              <a:t>Strategy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PM intervals</a:t>
            </a:r>
            <a:br/>
            <a:r>
              <a:t>Spare pooling</a:t>
            </a:r>
            <a:br/>
            <a:r>
              <a:t>Code alignment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Phase 1 — Field Data Collection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Ground truth before any database or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5440680" cy="50749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How we worked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Walk every boiler room — locate each relief valve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Photograph nameplates; verify install vs. drawings and records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Document spares, discharge path, condition — flag gaps immediately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280160"/>
            <a:ext cx="5440680" cy="507492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417319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What we captured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Unit identity (boiler / HRSG), protected location, installed vs. spare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Serial number, manufacturer, set pressure, capacity, NB #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Nameplate photo evidence for every valve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Phase 2 — Master Excel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The bridge between field discovery and digital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73455" y="1417319"/>
            <a:ext cx="2560320" cy="448056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3455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4895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Import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3183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Field data normalized by equipment &amp; 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52063" y="329184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4943" y="1417319"/>
            <a:ext cx="2560320" cy="448056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4943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6383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Sort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4671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Due dates, spares, Inventory IDs assigned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3551" y="329184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6431" y="1417319"/>
            <a:ext cx="2560320" cy="448056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6431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7871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Validate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6159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Completeness check before digitizing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5039" y="329184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7919" y="1417319"/>
            <a:ext cx="2560320" cy="448056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57919" y="1691639"/>
            <a:ext cx="2560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0">
                <a:solidFill>
                  <a:srgbClr val="500000"/>
                </a:solidFill>
              </a:defRPr>
            </a:pPr>
            <a:r>
              <a:t>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9359" y="2331720"/>
            <a:ext cx="2377439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293B"/>
                </a:solidFill>
              </a:defRPr>
            </a:pPr>
            <a:r>
              <a:t>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7647" y="3063239"/>
            <a:ext cx="2340863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</a:defRPr>
            </a:pPr>
            <a:r>
              <a:t>5-sheet export still supports leadership reviews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00000"/>
                </a:solidFill>
              </a:defRPr>
            </a:pPr>
            <a:r>
              <a:t>Phase 3 — Live Compliance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749808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64748B"/>
                </a:solidFill>
              </a:defRPr>
            </a:pPr>
            <a:r>
              <a:t>reliability-and-compliance-dashboar.vercel.app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664311" y="1170432"/>
            <a:ext cx="2633472" cy="658368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Fleet KPIs</a:t>
            </a:r>
          </a:p>
          <a:p>
            <a:pPr algn="ctr">
              <a:defRPr sz="900" b="0">
                <a:solidFill>
                  <a:srgbClr val="64748B"/>
                </a:solidFill>
              </a:defRPr>
            </a:pPr>
            <a:r>
              <a:t>Total, OOS, Overdue, Compliant %</a:t>
            </a:r>
          </a:p>
        </p:txBody>
      </p:sp>
      <p:sp>
        <p:nvSpPr>
          <p:cNvPr id="5" name="Rectangle 4"/>
          <p:cNvSpPr/>
          <p:nvPr/>
        </p:nvSpPr>
        <p:spPr>
          <a:xfrm>
            <a:off x="3407511" y="1170432"/>
            <a:ext cx="2633472" cy="658368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Drill-down</a:t>
            </a:r>
          </a:p>
          <a:p>
            <a:pPr algn="ctr">
              <a:defRPr sz="900" b="0">
                <a:solidFill>
                  <a:srgbClr val="64748B"/>
                </a:solidFill>
              </a:defRPr>
            </a:pPr>
            <a:r>
              <a:t>KPI → valve list with Inventory ID</a:t>
            </a:r>
          </a:p>
        </p:txBody>
      </p:sp>
      <p:sp>
        <p:nvSpPr>
          <p:cNvPr id="6" name="Rectangle 5"/>
          <p:cNvSpPr/>
          <p:nvPr/>
        </p:nvSpPr>
        <p:spPr>
          <a:xfrm>
            <a:off x="6150711" y="1170432"/>
            <a:ext cx="2633472" cy="658368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Hierarchy</a:t>
            </a:r>
          </a:p>
          <a:p>
            <a:pPr algn="ctr">
              <a:defRPr sz="900" b="0">
                <a:solidFill>
                  <a:srgbClr val="64748B"/>
                </a:solidFill>
              </a:defRPr>
            </a:pPr>
            <a:r>
              <a:t>Equipment → Location → PSV</a:t>
            </a:r>
          </a:p>
        </p:txBody>
      </p:sp>
      <p:sp>
        <p:nvSpPr>
          <p:cNvPr id="7" name="Rectangle 6"/>
          <p:cNvSpPr/>
          <p:nvPr/>
        </p:nvSpPr>
        <p:spPr>
          <a:xfrm>
            <a:off x="8893911" y="1170432"/>
            <a:ext cx="2633472" cy="658368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Export</a:t>
            </a:r>
          </a:p>
          <a:p>
            <a:pPr algn="ctr">
              <a:defRPr sz="900" b="0">
                <a:solidFill>
                  <a:srgbClr val="64748B"/>
                </a:solidFill>
              </a:defRPr>
            </a:pPr>
            <a:r>
              <a:t>5-sheet Excel for meetings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920240"/>
            <a:ext cx="11795760" cy="737235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82880" y="6291072"/>
            <a:ext cx="1179576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Live production — 51 PSVs, 78% compliant, fleet-wide equipment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00000"/>
                </a:solidFill>
              </a:defRPr>
            </a:pPr>
            <a:r>
              <a:t>KPI Drill-Down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02920"/>
            <a:ext cx="11795760" cy="73723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6355080"/>
            <a:ext cx="1179576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Click any KPI to see the valves driving that metric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00000"/>
                </a:solidFill>
              </a:defRPr>
            </a:pPr>
            <a:r>
              <a:t>Equipment &amp; Location Views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02920"/>
            <a:ext cx="11795760" cy="73723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6355080"/>
            <a:ext cx="1179576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Boiler 001/HRSG — locations with Inventory ID and due 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9601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00000"/>
                </a:solidFill>
              </a:defRPr>
            </a:pPr>
            <a:r>
              <a:t>Valve Record Detail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502920"/>
            <a:ext cx="11795760" cy="73723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6355080"/>
            <a:ext cx="11795760" cy="3474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Datasheet, compliance clock, status &amp; repair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PM Intervals &amp; Triggers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Phase 4 — Maintenance Strategy · maximum intervals shown; complete before due 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2560320"/>
                <a:gridCol w="4572000"/>
              </a:tblGrid>
              <a:tr h="10241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Activity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Frequency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Code / reference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Pop test &amp; overhaul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Every 3 years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NBIC Part 2, ASME Sec. I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Send to Setpoint — complete before due</a:t>
                      </a:r>
                    </a:p>
                  </a:txBody>
                  <a:tcPr anchor="ctr">
                    <a:noFill/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Visual walkdown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Semi-annual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API RP 576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Weeping, corrosion, discharge path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Manual lever test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Annual (optional)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PG-73.1.3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Management decision — seat damage risk</a:t>
                      </a:r>
                    </a:p>
                  </a:txBody>
                  <a:tcPr anchor="ctr">
                    <a:noFill/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Condition inspection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As needed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API RP 576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Leakage, chattering, damage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Testing Methods — Send-Out vs. In-Place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Long-term goal: spare coverage for all valves to enable send-out 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80560"/>
                <a:gridCol w="4480560"/>
              </a:tblGrid>
              <a:tr h="8534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Factor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Send-out (preferred)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In-place (no spare)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Process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Remove valve → install spare → bench overhaul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Setpoint tests on live system</a:t>
                      </a:r>
                    </a:p>
                  </a:txBody>
                  <a:tcPr anchor="ctr">
                    <a:noFill/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Inspection depth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Full disassembly, lapping, spring check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Functional lift only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Certification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Complete overhaul + pop test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Equivalent certification issued</a:t>
                      </a:r>
                    </a:p>
                  </a:txBody>
                  <a:tcPr anchor="ctr">
                    <a:noFill/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Risk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Lower seat-damage risk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Higher risk on older valves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Goal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Fleet-wide spare coverage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Interim until spare acquired</a:t>
                      </a:r>
                    </a:p>
                  </a:txBody>
                  <a:tcPr anchor="ctr"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Pre-Test Visual Inspection — Field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Section 4.1 · Complete before every removal or in-place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325880"/>
          <a:ext cx="1083564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00800"/>
                <a:gridCol w="685800"/>
                <a:gridCol w="685800"/>
                <a:gridCol w="685800"/>
              </a:tblGrid>
              <a:tr h="5435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Checkpoint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Accept / Reject criteria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Pass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Fail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Valve body and bonnet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No active corrosion, pitting, or mechanical damage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Discharge pipe / stack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Clear, supported; no standing water; drip pocket if needed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Drain / weep hole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Open and unobstructed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Body and bonnet bolting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All fasteners present; no cracks or corrosion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Nameplate legibility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CDTP, serial, orifice, year legible — record in WO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Inlet / nozzle area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No weeping at seat; dry mating surfaces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Test gag / lifting lever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Free-moving; not locked or wired shut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noFill/>
                  </a:tcPr>
                </a:tc>
              </a:tr>
              <a:tr h="543560">
                <a:tc>
                  <a:txBody>
                    <a:bodyPr wrap="square"/>
                    <a:lstStyle/>
                    <a:p>
                      <a:pPr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Inlet isolation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1E293B"/>
                          </a:solidFill>
                        </a:defRPr>
                      </a:pPr>
                      <a:r>
                        <a:t>Valve in-line and not inadvertently isolated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 b="0">
                          <a:solidFill>
                            <a:srgbClr val="1E293B"/>
                          </a:solidFill>
                        </a:defRPr>
                      </a:pPr>
                      <a:r>
                        <a:t>☐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94360" y="6053328"/>
            <a:ext cx="10972800" cy="384048"/>
          </a:xfrm>
          <a:prstGeom prst="rect">
            <a:avLst/>
          </a:prstGeom>
          <a:solidFill>
            <a:srgbClr val="FFFBEB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Inspector: _______________   Date: __________   WO #: __________   Equipment / Location: _______________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Valve Identification &amp; Labeling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Read the tag left to right — each segment has a fixed meaning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g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4251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5897880"/>
            <a:ext cx="10972800" cy="502920"/>
          </a:xfrm>
          <a:prstGeom prst="rect">
            <a:avLst/>
          </a:prstGeom>
          <a:solidFill>
            <a:srgbClr val="FFFBEB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</a:defRPr>
            </a:pPr>
            <a:r>
              <a:t>Physical tag is two-sided: Position Tag + Inventory ID + Serial Number + Service + Location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Overhaul vs. Repair vs. Replace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Decision guide for Setpoint and procurement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3520440" cy="47548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3520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0">
                <a:solidFill>
                  <a:srgbClr val="500000"/>
                </a:solidFill>
              </a:defRPr>
            </a:pPr>
            <a:r>
              <a:t>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39"/>
            <a:ext cx="3246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E293B"/>
                </a:solidFill>
              </a:defRPr>
            </a:pPr>
            <a:r>
              <a:t>Overhaul</a:t>
            </a:r>
          </a:p>
          <a:p>
            <a:pPr algn="ctr">
              <a:defRPr sz="1300" b="1">
                <a:solidFill>
                  <a:srgbClr val="B83A3A"/>
                </a:solidFill>
              </a:defRPr>
            </a:pPr>
            <a:r>
              <a:t>Scheduled 3-year send-out</a:t>
            </a:r>
          </a:p>
          <a:p>
            <a:pPr algn="ctr">
              <a:defRPr sz="1300" b="0">
                <a:solidFill>
                  <a:srgbClr val="64748B"/>
                </a:solidFill>
              </a:defRPr>
            </a:pPr>
            <a:r>
              <a:t>Full disassembly, lapping, spring check, certified pop 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371600"/>
            <a:ext cx="3520440" cy="475488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600200"/>
            <a:ext cx="3520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0">
                <a:solidFill>
                  <a:srgbClr val="500000"/>
                </a:solidFill>
              </a:defRPr>
            </a:pPr>
            <a:r>
              <a:t>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148839"/>
            <a:ext cx="3246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E293B"/>
                </a:solidFill>
              </a:defRPr>
            </a:pPr>
            <a:r>
              <a:t>Repair</a:t>
            </a:r>
          </a:p>
          <a:p>
            <a:pPr algn="ctr">
              <a:defRPr sz="1300" b="1">
                <a:solidFill>
                  <a:srgbClr val="B83A3A"/>
                </a:solidFill>
              </a:defRPr>
            </a:pPr>
            <a:r>
              <a:t>Limited defect found</a:t>
            </a:r>
          </a:p>
          <a:p>
            <a:pPr algn="ctr">
              <a:defRPr sz="1300" b="0">
                <a:solidFill>
                  <a:srgbClr val="64748B"/>
                </a:solidFill>
              </a:defRPr>
            </a:pPr>
            <a:r>
              <a:t>VR-stamp scope + re-test before return to service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1371600"/>
            <a:ext cx="3520440" cy="4754880"/>
          </a:xfrm>
          <a:prstGeom prst="rect">
            <a:avLst/>
          </a:prstGeom>
          <a:solidFill>
            <a:srgbClr val="ECFDF5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600200"/>
            <a:ext cx="3520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0">
                <a:solidFill>
                  <a:srgbClr val="500000"/>
                </a:solidFill>
              </a:defRPr>
            </a:pPr>
            <a:r>
              <a:t>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48839"/>
            <a:ext cx="3246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E293B"/>
                </a:solidFill>
              </a:defRPr>
            </a:pPr>
            <a:r>
              <a:t>Replace</a:t>
            </a:r>
          </a:p>
          <a:p>
            <a:pPr algn="ctr">
              <a:defRPr sz="1300" b="1">
                <a:solidFill>
                  <a:srgbClr val="B83A3A"/>
                </a:solidFill>
              </a:defRPr>
            </a:pPr>
            <a:r>
              <a:t>Body damage or obsolete</a:t>
            </a:r>
          </a:p>
          <a:p>
            <a:pPr algn="ctr">
              <a:defRPr sz="1300" b="0">
                <a:solidFill>
                  <a:srgbClr val="64748B"/>
                </a:solidFill>
              </a:defRPr>
            </a:pPr>
            <a:r>
              <a:t>New valve when economics or risk favor replacement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9893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Spares in storage &gt;5 years: re-test before install per API RP 576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Commercial 125 psi Boiler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Section 7 — management decision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310896"/>
            <a:ext cx="2651760" cy="347472"/>
          </a:xfrm>
          <a:prstGeom prst="rect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92400E"/>
                </a:solidFill>
              </a:defRPr>
            </a:pPr>
            <a:r>
              <a:t>ILLUSTRATIVE — pending vendor quotes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3200400"/>
                <a:gridCol w="3383280"/>
              </a:tblGrid>
              <a:tr h="12801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Annual valves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Cost trend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Recommendation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Replace-and-discard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~16+ / year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Recurring purchase every cycle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Simple but highest lifecycle cost</a:t>
                      </a:r>
                    </a:p>
                  </a:txBody>
                  <a:tcPr anchor="ctr">
                    <a:noFill/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Test-and-reuse + spare pool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Same fleet, pooled spares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~40% reduction after pool built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Mirror high-pressure program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Pilot program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3–5 valves first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Validate quotes &amp; turnaround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Prove before fleet-wide change</a:t>
                      </a:r>
                    </a:p>
                  </a:txBody>
                  <a:tcPr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Program Outcomes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Value delivered · leadership decisions to sustain the program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280160"/>
            <a:ext cx="5440680" cy="21488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89888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00000"/>
                </a:solidFill>
              </a:defRPr>
            </a:pPr>
            <a:r>
              <a:t>Operational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19072"/>
            <a:ext cx="49834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1E293B"/>
                </a:solidFill>
              </a:defRPr>
            </a:pPr>
            <a:r>
              <a:t>• Complete fleet inventory &amp; visible compliance by site</a:t>
            </a:r>
          </a:p>
          <a:p>
            <a:pPr>
              <a:spcAft>
                <a:spcPts val="800"/>
              </a:spcAft>
              <a:defRPr sz="1300" b="0">
                <a:solidFill>
                  <a:srgbClr val="1E293B"/>
                </a:solidFill>
              </a:defRPr>
            </a:pPr>
            <a:r>
              <a:t>• Traceable audit history &amp; faster Setpoint planning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280160"/>
            <a:ext cx="5440680" cy="214884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389888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00000"/>
                </a:solidFill>
              </a:defRPr>
            </a:pPr>
            <a:r>
              <a:t>Strategic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19072"/>
            <a:ext cx="49834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1E293B"/>
                </a:solidFill>
              </a:defRPr>
            </a:pPr>
            <a:r>
              <a:t>• Code-aligned strategy doc (ASME, NBIC, API RP 576)</a:t>
            </a:r>
          </a:p>
          <a:p>
            <a:pPr>
              <a:spcAft>
                <a:spcPts val="800"/>
              </a:spcAft>
              <a:defRPr sz="1300" b="0">
                <a:solidFill>
                  <a:srgbClr val="1E293B"/>
                </a:solidFill>
              </a:defRPr>
            </a:pPr>
            <a:r>
              <a:t>• CMMS foundation, spare-pool path, sustainable UES ownership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0332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00000"/>
                </a:solidFill>
              </a:defRPr>
            </a:pPr>
            <a:r>
              <a:t>Recommended next steps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160520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873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Endorse Maintenance Strategy and PM frequencies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818888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745736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Approve spare-acquisition priority 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477256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404104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Pilot test-and-reuse on 125 psi valves (3–5 unit pilot)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135624"/>
            <a:ext cx="128016" cy="12801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6062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E293B"/>
                </a:solidFill>
              </a:defRPr>
            </a:pPr>
            <a:r>
              <a:t>Fleet-wide physical tagging — Position Tag + Inventory 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