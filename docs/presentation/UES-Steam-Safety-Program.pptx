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502920"/>
            <a:ext cx="960120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60020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Steam Safety Management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CE7E7"/>
                </a:solidFill>
              </a:defRPr>
            </a:pPr>
            <a:r>
              <a:t>Pressure Safety Valve Compliance · Data · Maintenance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E8C4C4"/>
                </a:solidFill>
              </a:defRPr>
            </a:pPr>
            <a:r>
              <a:t>Texas A&amp;M University · Utilities &amp; Energy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580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Field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26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Excel master 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72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Live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18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Maintenance strategy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End-to-end program built from the ground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719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9719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4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719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Program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159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Field → Excel → Dashboard → 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1791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1791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51+ PSVs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1791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Tracked fleet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3231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Boilers, HRSG, HHWB, DHWB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3863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3863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3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Recert 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303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NBIC / ASME aligned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5935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5935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1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5935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System of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7375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Dashboard + master 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Walked boiler rooms and steam systems — photographed nameplates and verified installed valves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Built a comprehensive Excel master register, then a live compliance dashboard for the full fleet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Authored a formal PSV/SRV Maintenance Strategy aligned to ASME, NBIC, API RP 576, and Texas code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Outcome: visible compliance, proactive due-date management, and a defendable maintenance program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Why Leadership Should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Risk reduction through visibility and a sustainable maintenance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173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Boiler PSVs are code-required — missed recertification creates regulatory risk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Valve status, spare coverage, and due dates were hard to see fleet-wide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Unplanned failures and rushed testing drive cost, outages, and audit 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11479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5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 structured program cuts surprises and improves capital planning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98347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892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This reliability work protects people, equipment, and compliance standing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Regulatory &amp; Standards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Program decisions are code-informed, not ad hoc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173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ASME Section I — boiler safety valve design, capacity, and manual-lift requirements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NBIC Part 2 — in-service inspection and maximum 3-year test intervals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API RP 576 — industry best practice for inspection, testing, and repair of relief devices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11479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5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16 TAC Chapter 65 &amp; Texas Health &amp; Safety Code Ch. 755 — state boiler program requirements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98347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892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Maintenance Strategy document ties every PM activity back to these references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Building the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Field data → Master register → Dashboard → Maintenance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Development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From field discovery to a sustainable maintenance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Field Data</a:t>
            </a:r>
            <a:br/>
            <a:r>
              <a:t>Collection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Site walks</a:t>
            </a:r>
            <a:br/>
            <a:r>
              <a:t>Nameplate photos</a:t>
            </a:r>
            <a:br/>
            <a:r>
              <a:t>Valve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0332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Master Excel</a:t>
            </a:r>
            <a:br/>
            <a: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Sort &amp; normalize</a:t>
            </a:r>
            <a:br/>
            <a:r>
              <a:t>Track due dates</a:t>
            </a:r>
            <a:br/>
            <a:r>
              <a:t>Inventory IDs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2084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Digital</a:t>
            </a:r>
            <a:br/>
            <a:r>
              <a:t>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Fleet KPIs</a:t>
            </a:r>
            <a:br/>
            <a:r>
              <a:t>Drill-down views</a:t>
            </a:r>
            <a:br/>
            <a:r>
              <a:t>Excel exports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5548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3836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Maintenance</a:t>
            </a:r>
            <a:br/>
            <a:r>
              <a:t>Strategy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PM intervals</a:t>
            </a:r>
            <a:br/>
            <a:r>
              <a:t>Spare pooling</a:t>
            </a:r>
            <a:br/>
            <a:r>
              <a:t>Code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1 — Field Data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Ground truth before any database or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173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Walked every boiler room to locate all relief valves and protected points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Captured nameplate photos: serial, set pressure (CDTP), orifice, NB number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Verified what was actually installed vs. what drawings or records showed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11479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5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Documented spare availability, valve orientation, discharge path, and visible condition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98347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892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Flagged gaps: missing spares, illegible nameplates, weeping seats, isolation concerns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What We Captured in the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42416"/>
            <a:ext cx="544068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Equipment &amp; location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Boiler / HRSG / commercial unit identity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Protected location (steam drum, economizer, etc.)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Position on the system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Installed vs. spare status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42416"/>
            <a:ext cx="5440680" cy="50749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Valve identity &amp;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Serial number &amp; manufacturer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Set pressure and capacity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National Board number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Nameplate photo evidence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Visible leakage, corrosion, or damage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2 — Master Excel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The bridge between field discovery and digital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173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Built a comprehensive Excel master file as the first system of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Sorted and normalized field data across equipment, locations, and serial numbers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Tracked install dates, service history, spare availability, and recert due dates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11479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5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Assigned Inventory IDs and position-oriented tags for procurement and CMMS 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98347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892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Used Excel to validate completeness before investing in a digital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85215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Master file still supports bulk reporting and leadership reviews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Phase 3 — Digital Compliance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Operational visibility for the whole fleet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Dashboard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reliability-and-compliance-dashboar.vercel.app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173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Site-wide KPIs: Total PSVs, Installed, Out for Service, Overdue, Compliant %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Equipment → Location → PSV hierarchy matching how operators think about the plant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Automatic 3-year due-date calculation from install or on-site service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11479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5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Inventory ID visible on locations, KPI views, and exports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98347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892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Status history and separate repair/overhaul history per valve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85215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Excel report download: All PSVs, Installed, Out for Service, Overdue, Upcoming Due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Dashboard — Fleet Compliance at a Glance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Live production — 51+ PSVs tracked, fleet-wide equipment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KPI Drill-Down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Click any KPI to see the exact valves driving that 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Equipment &amp; Location Views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Scoped view per boiler with location-level Inventory ID and installed valve due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Valve Record Detail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Full datasheet, compliance clock, status history, and repair/overhaul 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Phase 4 — Maintenance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Formal PSV/SRV program document for UES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PM Intervals &amp;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Maximum intervals shown — UES should complete before due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2926080"/>
                <a:gridCol w="4297680"/>
              </a:tblGrid>
              <a:tr h="10241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Activity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Frequency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Code / reference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Formal pop test &amp;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Every 3 years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NBIC Part 2 §2.5.8; ASME Sec. I; 16 TAC Ch. 65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Code minimum — Setpoint send-out or in-place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Visual field walkdown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Semi-annual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 §8 &amp; §9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Eyes-on only — recommended UES program addition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Manual lever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Annual (optional)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ASME Sec. I PG-73.1.3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Management decision — see Section 3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Condition-based inspection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Immediately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 §9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Leakage, chattering, corrosion, unplanned actuation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Testing Methods — Send-Out vs. In-Place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Long-term goal: spare coverage for all valves to enable send-out testing fleet-wide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  <a:gridCol w="4572000"/>
              </a:tblGrid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Factor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Send-out (Setpoint shop)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In-place (Setpoint on-site)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Who performs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Setpoint certified shop technicians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Same Setpoint technicians, on-site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Certification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Full Setpoint test certificate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Full certificate — equivalent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Scope of work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Bench overhaul: disassembly, lapping, pop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As-found lift; reseat &amp; seat tightness check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Internal assessment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Complete — worn parts replaced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Limited — functional test only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Seat damage risk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Lower — controlled bench environment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Higher — especially older or corroded valves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Best suited for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Preferred when spare is available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Interim until spare is acquired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Pre-Test Visual Inspection — Field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4.1 · Complete before every removal or in-place test · File in CMMS work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325880"/>
          <a:ext cx="1083564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00800"/>
                <a:gridCol w="685800"/>
                <a:gridCol w="685800"/>
                <a:gridCol w="685800"/>
              </a:tblGrid>
              <a:tr h="543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Checkpoint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Accept / Reject criteria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Fail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Valve body and bonnet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No active corrosion; minor surface rust OK if no pitting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Discharge pipe / stack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Clear and unobstructed; properly supported; no standing water; drip pocket if applicable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Drain / weep hole (if equipped)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Open; no plugging or paint blockage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Body and bonnet bolting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All fasteners present and intact; no visible cracks or corrosion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Nameplate legibility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CDTP, serial, orifice, and manufacture year legible — record in work order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Inlet / nozzle area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No visible leakage or weeping at seat; dry mating surfaces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Test gag / lifting lever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Free of obstructions; lever not locked or wired shut (if equipped)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Inlet isolation (if applicable)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Valve in-line and not inadvertently isolated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94360" y="6053328"/>
            <a:ext cx="10972800" cy="384048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Technician: _______________   Date: __________   WO #: __________   Equipment / Location: _______________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Valve Identification &amp; Labeling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8 · Read the tag left to right — each segment has a fixed meaning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5897880"/>
            <a:ext cx="10972800" cy="502920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Physical tag is two-sided: Position Tag + Inventory ID + Serial Number + Service + 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Manual Lever Testing — Management Decision Required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3 — both testing methods performed by Setpoint; certification equivalent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440680" cy="5074920"/>
          </a:xfrm>
          <a:prstGeom prst="rect">
            <a:avLst/>
          </a:prstGeom>
          <a:solidFill>
            <a:srgbClr val="ECFDF5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Arguments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PG-73.1.3 requires capability to manually lift at ≥75% of set pressure on Section I boilers</a:t>
            </a:r>
          </a:p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Low-cost field check that disc is not stuck to seat from corrosion or scale</a:t>
            </a:r>
          </a:p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Brief test at operating pressure confirms disc and seat are functional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280160"/>
            <a:ext cx="5440680" cy="5074920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417319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Arguments against / 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Can damage seating surfaces — especially older valves or soft seats</a:t>
            </a:r>
          </a:p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Post-test seat leakage may require immediate removal and bench overhaul</a:t>
            </a:r>
          </a:p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API RP 576 does not recommend routine lever tests as substitute for formal pop testing</a:t>
            </a:r>
          </a:p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Low incremental benefit if formal test is already scheduled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Overhaul vs. Repair vs. Replace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Decision guide for Setpoint and procurement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173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Overhaul: full disassembly, lapping, and certified pop test — bundled with send-out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Repair: limited-scope fix — must be VR-stamp work with re-test before return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Replace when: body damage, obsolete design, or high-criticality risk favors new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11479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5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Spares in storage &gt;5 years: re-test before installation per API RP 576 guidance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98347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892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Decision criteria documented so procurement and operations align on the same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Commercial Boiler Safety Valves (150 PSI)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Cost-driven maintenance logic — test-and-reuse is not worth pursuing for this valve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173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Section 6 — ASME Section IV heating-boiler devices; different class from Section I steam PRVs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F275464 (~$351/valve) replaces discontinued 0275464 — use ~$350–360 for planning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Use-and-trash is correct: repair cost exceeds ~60% of replacement at this price point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11479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5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Annual lever test required per Watts ES-174A/740 — replace immediately on failed reseat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98347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892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E293B"/>
                </a:solidFill>
              </a:defRPr>
            </a:pPr>
            <a:r>
              <a:t>Recommend 3–5 year replacement cycle; align with fleet 3-year PSV cadence (Section 6.4)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Highest-Impact Program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5.5 — spare coverage is the single highest-impact improvement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173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Acquire spares for valves with none — enables full bench testing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Rank valves by criticality to prioritize capital spend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Adopt semi-annual visual walkdowns as standard UES practice between formal tests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11479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5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Keep dashboard and master register as the single source of truth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98347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892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Management decision needed on routine manual lever testing — risk vs. PG-73.1.3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Outcomes &amp; Value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42416"/>
            <a:ext cx="544068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Operational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Complete valve inventory across steam systems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Visible compliance status by equipment and site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Traceable history for audits and incidents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Faster planning for Setpoint outages and swaps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Reduced reliance on memory and scattered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42416"/>
            <a:ext cx="5440680" cy="50749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Strategic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Code-aligned maintenance strategy document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Foundation for CMMS integration and spare pooling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Data to support capital requests for spares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Leadership-ready reporting via dashboard &amp; Excel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Sustainable program ownership within 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Recommended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Leadership decisions to sustain the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173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Leadership endorsement of the Maintenance Strategy and PM frequencies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Decision on manual lever testing policy (Section 3 — management choice)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Approve spare-acquisition prioritization for no-spare locations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11479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5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Continue populating dashboard with remaining field discoveries (walkdowns in progress)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983479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892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Integrate Position Tags and Inventory IDs fleet-wide on physical valve 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Steam Safety Management Program · Texas A&amp;M UES · Reliability &amp;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